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8572500" cx="15240000"/>
  <p:notesSz cx="6858000" cy="9144000"/>
  <p:embeddedFontLst>
    <p:embeddedFont>
      <p:font typeface="No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otoSans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NotoSans-italic.fntdata"/><Relationship Id="rId6" Type="http://schemas.openxmlformats.org/officeDocument/2006/relationships/slide" Target="slides/slide2.xml"/><Relationship Id="rId18" Type="http://schemas.openxmlformats.org/officeDocument/2006/relationships/font" Target="fonts/NotoSa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29" name="Google Shape;12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08" name="Google Shape;20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0" name="Google Shape;27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40" name="Google Shape;34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/>
              <a:t>SSE는 Agent Workflow Event 전달용이며 공장 센서 Streaming이 아님.</a:t>
            </a:r>
            <a:endParaRPr/>
          </a:p>
        </p:txBody>
      </p:sp>
      <p:sp>
        <p:nvSpPr>
          <p:cNvPr id="425" name="Google Shape;42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86" name="Google Shape;486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1" name="Google Shape;55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52" name="Google Shape;55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5" name="Google Shape;61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16" name="Google Shape;61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7" name="Google Shape;69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98" name="Google Shape;69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7" name="Google Shape;77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78" name="Google Shape;77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2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E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2070080" y="1417319"/>
            <a:ext cx="1828800" cy="1828800"/>
          </a:xfrm>
          <a:prstGeom prst="ellipse">
            <a:avLst/>
          </a:prstGeom>
          <a:solidFill>
            <a:srgbClr val="00A6BF">
              <a:alpha val="1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2070080" y="1417319"/>
            <a:ext cx="1828800" cy="1828800"/>
          </a:xfrm>
          <a:prstGeom prst="ellipse">
            <a:avLst/>
          </a:prstGeom>
          <a:noFill/>
          <a:ln cap="flat" cmpd="sng" w="12700">
            <a:solidFill>
              <a:srgbClr val="00A6BF">
                <a:alpha val="3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384280" y="731519"/>
            <a:ext cx="3200400" cy="3200400"/>
          </a:xfrm>
          <a:prstGeom prst="ellipse">
            <a:avLst/>
          </a:prstGeom>
          <a:noFill/>
          <a:ln cap="flat" cmpd="sng" w="12700">
            <a:solidFill>
              <a:srgbClr val="00A6BF">
                <a:alpha val="3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698480" y="45719"/>
            <a:ext cx="4572000" cy="4572000"/>
          </a:xfrm>
          <a:prstGeom prst="ellipse">
            <a:avLst/>
          </a:prstGeom>
          <a:noFill/>
          <a:ln cap="flat" cmpd="sng" w="12700">
            <a:solidFill>
              <a:srgbClr val="00A6BF">
                <a:alpha val="3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012680" y="-640080"/>
            <a:ext cx="5943600" cy="5943600"/>
          </a:xfrm>
          <a:prstGeom prst="ellipse">
            <a:avLst/>
          </a:prstGeom>
          <a:noFill/>
          <a:ln cap="flat" cmpd="sng" w="12700">
            <a:solidFill>
              <a:srgbClr val="00A6BF">
                <a:alpha val="3411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4231279" y="1349874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5171742" y="266467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1534658" y="3067812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1047890" y="956516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3079255" y="3168220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2271248" y="1618487"/>
            <a:ext cx="1426464" cy="1426464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5296" y="2002536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609600" y="533400"/>
            <a:ext cx="66675" cy="542925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76300" y="495300"/>
            <a:ext cx="13716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Smart Factory Agent Office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09600" y="8010525"/>
            <a:ext cx="14020800" cy="9525"/>
          </a:xfrm>
          <a:prstGeom prst="rect">
            <a:avLst/>
          </a:prstGeom>
          <a:solidFill>
            <a:srgbClr val="2747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4097000" y="8086725"/>
            <a:ext cx="52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9FB3C8"/>
                </a:solidFill>
                <a:latin typeface="Malgun Gothic"/>
                <a:ea typeface="Malgun Gothic"/>
                <a:cs typeface="Malgun Gothic"/>
                <a:sym typeface="Malgun Gothic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95350" y="2085975"/>
            <a:ext cx="13144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C9D6E4"/>
                </a:solidFill>
                <a:latin typeface="Arial"/>
                <a:ea typeface="Arial"/>
                <a:cs typeface="Arial"/>
                <a:sym typeface="Arial"/>
              </a:rPr>
              <a:t>제조설비 이상 탐지와 근거 기반 고장 진단을 위한 AI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95350" y="3190875"/>
            <a:ext cx="1314450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Arial"/>
              <a:buNone/>
            </a:pPr>
            <a:r>
              <a:rPr b="1" i="0" lang="en-US" sz="3225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이상을 찾는 </a:t>
            </a:r>
            <a:r>
              <a:rPr b="1" i="0" lang="en-US" sz="3225" u="none" cap="none" strike="noStrike">
                <a:solidFill>
                  <a:srgbClr val="5FD6E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</a:t>
            </a:r>
            <a:r>
              <a:rPr b="1" i="0" lang="en-US" sz="3225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에서,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5"/>
              <a:buFont typeface="Arial"/>
              <a:buNone/>
            </a:pPr>
            <a:r>
              <a:rPr b="1" i="0" lang="en-US" sz="3225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근거를 찾고 다음 행동까지 제안하는 </a:t>
            </a:r>
            <a:r>
              <a:rPr b="1" i="0" lang="en-US" sz="3225" u="none" cap="none" strike="noStrike">
                <a:solidFill>
                  <a:srgbClr val="5FD6EC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</a:t>
            </a:r>
            <a:r>
              <a:rPr b="1" i="0" lang="en-US" sz="3225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로.</a:t>
            </a:r>
            <a:endParaRPr b="1" i="0" sz="3225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895350" y="5514630"/>
            <a:ext cx="2457450" cy="942975"/>
          </a:xfrm>
          <a:prstGeom prst="roundRect">
            <a:avLst>
              <a:gd fmla="val 13575" name="adj"/>
            </a:avLst>
          </a:prstGeom>
          <a:solidFill>
            <a:srgbClr val="FFFFFF">
              <a:alpha val="9020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390900" y="5928968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FD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638550" y="5514630"/>
            <a:ext cx="2457450" cy="942975"/>
          </a:xfrm>
          <a:prstGeom prst="roundRect">
            <a:avLst>
              <a:gd fmla="val 13575" name="adj"/>
            </a:avLst>
          </a:prstGeom>
          <a:solidFill>
            <a:srgbClr val="FFFFFF">
              <a:alpha val="9020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134100" y="5928968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FD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381750" y="5514630"/>
            <a:ext cx="2457450" cy="942975"/>
          </a:xfrm>
          <a:prstGeom prst="roundRect">
            <a:avLst>
              <a:gd fmla="val 13575" name="adj"/>
            </a:avLst>
          </a:prstGeom>
          <a:solidFill>
            <a:srgbClr val="FFFFFF">
              <a:alpha val="9020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8877300" y="5928968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FD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9124950" y="5514630"/>
            <a:ext cx="2457450" cy="942975"/>
          </a:xfrm>
          <a:prstGeom prst="roundRect">
            <a:avLst>
              <a:gd fmla="val 13575" name="adj"/>
            </a:avLst>
          </a:prstGeom>
          <a:solidFill>
            <a:srgbClr val="FFFFFF">
              <a:alpha val="9020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1620500" y="5928968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FD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1868150" y="5514630"/>
            <a:ext cx="2457450" cy="942975"/>
          </a:xfrm>
          <a:prstGeom prst="roundRect">
            <a:avLst>
              <a:gd fmla="val 13575" name="adj"/>
            </a:avLst>
          </a:prstGeom>
          <a:solidFill>
            <a:srgbClr val="FFFFFF">
              <a:alpha val="9020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187958" y="5121438"/>
            <a:ext cx="548640" cy="548640"/>
          </a:xfrm>
          <a:prstGeom prst="ellipse">
            <a:avLst/>
          </a:prstGeom>
          <a:solidFill>
            <a:srgbClr val="00A6BF"/>
          </a:solidFill>
          <a:ln cap="flat" cmpd="sng" w="19050">
            <a:solidFill>
              <a:srgbClr val="13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5118" y="525859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3931157" y="5121438"/>
            <a:ext cx="548640" cy="548640"/>
          </a:xfrm>
          <a:prstGeom prst="ellipse">
            <a:avLst/>
          </a:prstGeom>
          <a:solidFill>
            <a:srgbClr val="00A6BF"/>
          </a:solidFill>
          <a:ln cap="flat" cmpd="sng" w="19050">
            <a:solidFill>
              <a:srgbClr val="13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8317" y="525859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3"/>
          <p:cNvSpPr/>
          <p:nvPr/>
        </p:nvSpPr>
        <p:spPr>
          <a:xfrm>
            <a:off x="6674358" y="5121438"/>
            <a:ext cx="548640" cy="548640"/>
          </a:xfrm>
          <a:prstGeom prst="ellipse">
            <a:avLst/>
          </a:prstGeom>
          <a:solidFill>
            <a:srgbClr val="00A6BF"/>
          </a:solidFill>
          <a:ln cap="flat" cmpd="sng" w="19050">
            <a:solidFill>
              <a:srgbClr val="13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1518" y="525859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9417557" y="5121438"/>
            <a:ext cx="548640" cy="548640"/>
          </a:xfrm>
          <a:prstGeom prst="ellipse">
            <a:avLst/>
          </a:prstGeom>
          <a:solidFill>
            <a:srgbClr val="00A6BF"/>
          </a:solidFill>
          <a:ln cap="flat" cmpd="sng" w="19050">
            <a:solidFill>
              <a:srgbClr val="13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" name="Google Shape;50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54717" y="525859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12160757" y="5121438"/>
            <a:ext cx="548640" cy="548640"/>
          </a:xfrm>
          <a:prstGeom prst="ellipse">
            <a:avLst/>
          </a:prstGeom>
          <a:solidFill>
            <a:srgbClr val="00A6BF"/>
          </a:solidFill>
          <a:ln cap="flat" cmpd="sng" w="19050">
            <a:solidFill>
              <a:srgbClr val="132E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297917" y="525859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1187958" y="5807238"/>
            <a:ext cx="1819656" cy="298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저장된 측정 데이터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325118" y="6123832"/>
            <a:ext cx="1682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DF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EDFE5"/>
                </a:solidFill>
                <a:latin typeface="Calibri"/>
                <a:ea typeface="Calibri"/>
                <a:cs typeface="Calibri"/>
                <a:sym typeface="Calibri"/>
              </a:rPr>
              <a:t>Recorded Data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3948566" y="5765029"/>
            <a:ext cx="1864614" cy="429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ML 기반 상태 판별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3983736" y="6123832"/>
            <a:ext cx="1682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DF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EDFE5"/>
                </a:solidFill>
                <a:latin typeface="Calibri"/>
                <a:ea typeface="Calibri"/>
                <a:cs typeface="Calibri"/>
                <a:sym typeface="Calibri"/>
              </a:rPr>
              <a:t>ML Classification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726936" y="5849512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RAG 기술 근거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726936" y="6123832"/>
            <a:ext cx="1682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DF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EDFE5"/>
                </a:solidFill>
                <a:latin typeface="Calibri"/>
                <a:ea typeface="Calibri"/>
                <a:cs typeface="Calibri"/>
                <a:sym typeface="Calibri"/>
              </a:rPr>
              <a:t>RAG Evidence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9493410" y="5813376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점검·조치 권고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324329" y="6105544"/>
            <a:ext cx="2117101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DF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EDFE5"/>
                </a:solidFill>
                <a:latin typeface="Calibri"/>
                <a:ea typeface="Calibri"/>
                <a:cs typeface="Calibri"/>
                <a:sym typeface="Calibri"/>
              </a:rPr>
              <a:t>Action Recommendation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2216384" y="5849512"/>
            <a:ext cx="16824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사람의 결정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2262104" y="6123832"/>
            <a:ext cx="16824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DF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8EDFE5"/>
                </a:solidFill>
                <a:latin typeface="Calibri"/>
                <a:ea typeface="Calibri"/>
                <a:cs typeface="Calibri"/>
                <a:sym typeface="Calibri"/>
              </a:rPr>
              <a:t>Human Decisions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76300" y="6771114"/>
            <a:ext cx="2131314" cy="373757"/>
          </a:xfrm>
          <a:prstGeom prst="roundRect">
            <a:avLst>
              <a:gd fmla="val 40000" name="adj"/>
            </a:avLst>
          </a:prstGeom>
          <a:solidFill>
            <a:srgbClr val="153F5B"/>
          </a:solidFill>
          <a:ln cap="flat" cmpd="sng" w="12700">
            <a:solidFill>
              <a:srgbClr val="153F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64508" y="6813310"/>
            <a:ext cx="2678590" cy="311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8C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B8C4"/>
                </a:solidFill>
                <a:latin typeface="Calibri"/>
                <a:ea typeface="Calibri"/>
                <a:cs typeface="Calibri"/>
                <a:sym typeface="Calibri"/>
              </a:rPr>
              <a:t>Recorded Data 기반 MVP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233941" y="6771114"/>
            <a:ext cx="2131314" cy="373757"/>
          </a:xfrm>
          <a:prstGeom prst="roundRect">
            <a:avLst>
              <a:gd fmla="val 40000" name="adj"/>
            </a:avLst>
          </a:prstGeom>
          <a:solidFill>
            <a:srgbClr val="4B3827"/>
          </a:solidFill>
          <a:ln cap="flat" cmpd="sng" w="12700">
            <a:solidFill>
              <a:srgbClr val="4B3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007614" y="6813310"/>
            <a:ext cx="2491712" cy="311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56A"/>
              </a:buClr>
              <a:buSzPts val="1100"/>
              <a:buFont typeface="Noto Sans"/>
              <a:buNone/>
            </a:pPr>
            <a:r>
              <a:rPr b="1" i="0" lang="en-US" sz="1100" u="none" cap="none" strike="noStrike">
                <a:solidFill>
                  <a:srgbClr val="F2B56A"/>
                </a:solidFill>
                <a:latin typeface="Noto Sans"/>
                <a:ea typeface="Noto Sans"/>
                <a:cs typeface="Noto Sans"/>
                <a:sym typeface="Noto Sans"/>
              </a:rPr>
              <a:t>설비 자동제어 없음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8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solidFill>
            <a:srgbClr val="00A6B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3715999" y="-1828800"/>
            <a:ext cx="3474720" cy="347472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2984480" y="-2560320"/>
            <a:ext cx="4937760" cy="493776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6812513" y="-1151956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7820724" y="273268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3884754" y="71323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3366963" y="-1571539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15564014" y="83511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785622" y="1235202"/>
            <a:ext cx="1292610" cy="310896"/>
          </a:xfrm>
          <a:prstGeom prst="roundRect">
            <a:avLst>
              <a:gd fmla="val 50000" name="adj"/>
            </a:avLst>
          </a:prstGeom>
          <a:solidFill>
            <a:srgbClr val="D3E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09600" y="533400"/>
            <a:ext cx="66675" cy="542925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76300" y="495300"/>
            <a:ext cx="13716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여부를 판단하는 것만으로는 설비 진단이 끝나지 않습니다.</a:t>
            </a:r>
            <a:endParaRPr b="1" i="0" sz="3075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952500" y="1257300"/>
            <a:ext cx="1333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609600" y="8010525"/>
            <a:ext cx="14020800" cy="9525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4097000" y="8086725"/>
            <a:ext cx="52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85622" y="7086600"/>
            <a:ext cx="13740003" cy="723900"/>
          </a:xfrm>
          <a:prstGeom prst="roundRect">
            <a:avLst>
              <a:gd fmla="val 17684" name="adj"/>
            </a:avLst>
          </a:prstGeom>
          <a:solidFill>
            <a:srgbClr val="132E4A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3871448" y="7192518"/>
            <a:ext cx="512064" cy="512064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99463" y="732053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/>
          <p:nvPr/>
        </p:nvSpPr>
        <p:spPr>
          <a:xfrm>
            <a:off x="0" y="0"/>
            <a:ext cx="15240000" cy="72736"/>
          </a:xfrm>
          <a:prstGeom prst="rect">
            <a:avLst/>
          </a:prstGeom>
          <a:solidFill>
            <a:srgbClr val="0FB7C3"/>
          </a:solidFill>
          <a:ln cap="flat" cmpd="sng" w="12700">
            <a:solidFill>
              <a:srgbClr val="0FB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85622" y="1870570"/>
            <a:ext cx="3763374" cy="4937759"/>
          </a:xfrm>
          <a:prstGeom prst="roundRect">
            <a:avLst>
              <a:gd fmla="val 2162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063169" y="2064028"/>
            <a:ext cx="3254810" cy="3254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CD3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2D6CD3"/>
                </a:solidFill>
                <a:latin typeface="Noto Sans"/>
                <a:ea typeface="Noto Sans"/>
                <a:cs typeface="Noto Sans"/>
                <a:sym typeface="Noto Sans"/>
              </a:rPr>
              <a:t>기존 현장 진단 흐름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282625" y="2475509"/>
            <a:ext cx="2827616" cy="508564"/>
          </a:xfrm>
          <a:prstGeom prst="roundRect">
            <a:avLst>
              <a:gd fmla="val 16000" name="adj"/>
            </a:avLst>
          </a:prstGeom>
          <a:solidFill>
            <a:srgbClr val="EEF4FB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282625" y="2475509"/>
            <a:ext cx="2827616" cy="508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18364D"/>
                </a:solidFill>
                <a:latin typeface="Noto Sans"/>
                <a:ea typeface="Noto Sans"/>
                <a:cs typeface="Noto Sans"/>
                <a:sym typeface="Noto Sans"/>
              </a:rPr>
              <a:t>Sensor 분석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282625" y="3148892"/>
            <a:ext cx="2827616" cy="508564"/>
          </a:xfrm>
          <a:prstGeom prst="roundRect">
            <a:avLst>
              <a:gd fmla="val 16000" name="adj"/>
            </a:avLst>
          </a:prstGeom>
          <a:solidFill>
            <a:srgbClr val="F5F8FA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282625" y="3148892"/>
            <a:ext cx="2827616" cy="508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18364D"/>
                </a:solidFill>
                <a:latin typeface="Noto Sans"/>
                <a:ea typeface="Noto Sans"/>
                <a:cs typeface="Noto Sans"/>
                <a:sym typeface="Noto Sans"/>
              </a:rPr>
              <a:t>담당자 판단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282625" y="3822275"/>
            <a:ext cx="2827616" cy="508564"/>
          </a:xfrm>
          <a:prstGeom prst="roundRect">
            <a:avLst>
              <a:gd fmla="val 16000" name="adj"/>
            </a:avLst>
          </a:prstGeom>
          <a:solidFill>
            <a:srgbClr val="F5F8FA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282625" y="3822275"/>
            <a:ext cx="2827616" cy="508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18364D"/>
                </a:solidFill>
                <a:latin typeface="Noto Sans"/>
                <a:ea typeface="Noto Sans"/>
                <a:cs typeface="Noto Sans"/>
                <a:sym typeface="Noto Sans"/>
              </a:rPr>
              <a:t>기술문서 찾기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282625" y="4495658"/>
            <a:ext cx="2827616" cy="508564"/>
          </a:xfrm>
          <a:prstGeom prst="roundRect">
            <a:avLst>
              <a:gd fmla="val 16000" name="adj"/>
            </a:avLst>
          </a:prstGeom>
          <a:solidFill>
            <a:srgbClr val="F5F8FA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282625" y="4495658"/>
            <a:ext cx="2827616" cy="508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18364D"/>
                </a:solidFill>
                <a:latin typeface="Noto Sans"/>
                <a:ea typeface="Noto Sans"/>
                <a:cs typeface="Noto Sans"/>
                <a:sym typeface="Noto Sans"/>
              </a:rPr>
              <a:t>원인 검토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1282625" y="5169041"/>
            <a:ext cx="2827616" cy="508564"/>
          </a:xfrm>
          <a:prstGeom prst="roundRect">
            <a:avLst>
              <a:gd fmla="val 16000" name="adj"/>
            </a:avLst>
          </a:prstGeom>
          <a:solidFill>
            <a:srgbClr val="F5F8FA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282625" y="5169041"/>
            <a:ext cx="2827616" cy="508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18364D"/>
                </a:solidFill>
                <a:latin typeface="Noto Sans"/>
                <a:ea typeface="Noto Sans"/>
                <a:cs typeface="Noto Sans"/>
                <a:sym typeface="Noto Sans"/>
              </a:rPr>
              <a:t>점검 계획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282625" y="5842424"/>
            <a:ext cx="2827616" cy="508564"/>
          </a:xfrm>
          <a:prstGeom prst="roundRect">
            <a:avLst>
              <a:gd fmla="val 16000" name="adj"/>
            </a:avLst>
          </a:prstGeom>
          <a:solidFill>
            <a:srgbClr val="F5F8FA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282625" y="5842424"/>
            <a:ext cx="2827616" cy="508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18364D"/>
                </a:solidFill>
                <a:latin typeface="Noto Sans"/>
                <a:ea typeface="Noto Sans"/>
                <a:cs typeface="Noto Sans"/>
                <a:sym typeface="Noto Sans"/>
              </a:rPr>
              <a:t>정비 판단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921426" y="1907822"/>
            <a:ext cx="9604200" cy="1275303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168314" y="2100844"/>
            <a:ext cx="711990" cy="355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8C4"/>
              </a:buClr>
              <a:buSzPts val="2300"/>
              <a:buFont typeface="Noto Sans"/>
              <a:buNone/>
            </a:pPr>
            <a:r>
              <a:rPr b="1" i="0" lang="en-US" sz="2300" u="none" cap="none" strike="noStrike">
                <a:solidFill>
                  <a:srgbClr val="12B8C4"/>
                </a:solidFill>
                <a:latin typeface="Noto Sans"/>
                <a:ea typeface="Noto Sans"/>
                <a:cs typeface="Noto Sans"/>
                <a:sym typeface="Noto Sans"/>
              </a:rPr>
              <a:t>01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927266" y="2073413"/>
            <a:ext cx="6662198" cy="345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Noto Sans"/>
                <a:ea typeface="Noto Sans"/>
                <a:cs typeface="Noto Sans"/>
                <a:sym typeface="Noto Sans"/>
              </a:rPr>
              <a:t>분석 결과와 기술자료가 분리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927266" y="2457461"/>
            <a:ext cx="6662188" cy="50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62788A"/>
                </a:solidFill>
                <a:latin typeface="Noto Sans"/>
                <a:ea typeface="Noto Sans"/>
                <a:cs typeface="Noto Sans"/>
                <a:sym typeface="Noto Sans"/>
              </a:rPr>
              <a:t>이상 여부는 보이지만, 왜 그런지 확인하려면 자료를 다시 찾아야 합니다.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921426" y="3317579"/>
            <a:ext cx="9604200" cy="1275303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5168314" y="3510601"/>
            <a:ext cx="711990" cy="355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8C4"/>
              </a:buClr>
              <a:buSzPts val="2300"/>
              <a:buFont typeface="Noto Sans"/>
              <a:buNone/>
            </a:pPr>
            <a:r>
              <a:rPr b="1" i="0" lang="en-US" sz="2300" u="none" cap="none" strike="noStrike">
                <a:solidFill>
                  <a:srgbClr val="12B8C4"/>
                </a:solidFill>
                <a:latin typeface="Noto Sans"/>
                <a:ea typeface="Noto Sans"/>
                <a:cs typeface="Noto Sans"/>
                <a:sym typeface="Noto Sans"/>
              </a:rPr>
              <a:t>02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927266" y="3483170"/>
            <a:ext cx="6662198" cy="345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Noto Sans"/>
                <a:ea typeface="Noto Sans"/>
                <a:cs typeface="Noto Sans"/>
                <a:sym typeface="Noto Sans"/>
              </a:rPr>
              <a:t>진단 근거가 담당자 경험에 의존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927266" y="3867218"/>
            <a:ext cx="6662188" cy="50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62788A"/>
                </a:solidFill>
                <a:latin typeface="Noto Sans"/>
                <a:ea typeface="Noto Sans"/>
                <a:cs typeface="Noto Sans"/>
                <a:sym typeface="Noto Sans"/>
              </a:rPr>
              <a:t>어떤 문서를 찾고 어떤 순서로 확인할지가 사람마다 달라질 수 있습니다.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921426" y="4727336"/>
            <a:ext cx="9604200" cy="1275303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168314" y="4920358"/>
            <a:ext cx="711990" cy="3559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7A1C"/>
              </a:buClr>
              <a:buSzPts val="2300"/>
              <a:buFont typeface="Noto Sans"/>
              <a:buNone/>
            </a:pPr>
            <a:r>
              <a:rPr b="1" i="0" lang="en-US" sz="2300" u="none" cap="none" strike="noStrike">
                <a:solidFill>
                  <a:srgbClr val="D37A1C"/>
                </a:solidFill>
                <a:latin typeface="Noto Sans"/>
                <a:ea typeface="Noto Sans"/>
                <a:cs typeface="Noto Sans"/>
                <a:sym typeface="Noto Sans"/>
              </a:rPr>
              <a:t>03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927266" y="4892927"/>
            <a:ext cx="6662198" cy="3458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Noto Sans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Noto Sans"/>
                <a:ea typeface="Noto Sans"/>
                <a:cs typeface="Noto Sans"/>
                <a:sym typeface="Noto Sans"/>
              </a:rPr>
              <a:t>점검·조치·기록이 한 흐름으로 연결되지 않음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927266" y="5276975"/>
            <a:ext cx="6662188" cy="508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100"/>
              <a:buFont typeface="Noto Sans"/>
              <a:buNone/>
            </a:pPr>
            <a:r>
              <a:rPr b="0" i="0" lang="en-US" sz="1100" u="none" cap="none" strike="noStrike">
                <a:solidFill>
                  <a:srgbClr val="62788A"/>
                </a:solidFill>
                <a:latin typeface="Noto Sans"/>
                <a:ea typeface="Noto Sans"/>
                <a:cs typeface="Noto Sans"/>
                <a:sym typeface="Noto Sans"/>
              </a:rPr>
              <a:t>판정 이후의 점검, 조치 검토, 결과 기록이 별도 업무로 남습니다.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967146" y="6225242"/>
            <a:ext cx="1271408" cy="305138"/>
          </a:xfrm>
          <a:prstGeom prst="roundRect">
            <a:avLst>
              <a:gd fmla="val 40000" name="adj"/>
            </a:avLst>
          </a:prstGeom>
          <a:solidFill>
            <a:srgbClr val="D9E5F8"/>
          </a:solidFill>
          <a:ln cap="flat" cmpd="sng" w="12700">
            <a:solidFill>
              <a:srgbClr val="EAF2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4967146" y="6272221"/>
            <a:ext cx="1271410" cy="254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CD3"/>
              </a:buClr>
              <a:buSzPts val="1200"/>
              <a:buFont typeface="Noto Sans"/>
              <a:buNone/>
            </a:pPr>
            <a:r>
              <a:rPr b="1" i="0" lang="en-US" sz="1200" u="none" cap="none" strike="noStrike">
                <a:solidFill>
                  <a:srgbClr val="2D6CD3"/>
                </a:solidFill>
                <a:latin typeface="Noto Sans"/>
                <a:ea typeface="Noto Sans"/>
                <a:cs typeface="Noto Sans"/>
                <a:sym typeface="Noto Sans"/>
              </a:rPr>
              <a:t>주요 사용자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384970" y="6256964"/>
            <a:ext cx="6204484" cy="2847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62788A"/>
                </a:solidFill>
                <a:latin typeface="Noto Sans"/>
                <a:ea typeface="Noto Sans"/>
                <a:cs typeface="Noto Sans"/>
                <a:sym typeface="Noto Sans"/>
              </a:rPr>
              <a:t>설비보전 담당자 · 생산기술 담당자 · 현장 책임자</a:t>
            </a:r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458363" y="3013372"/>
            <a:ext cx="409015" cy="179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B8C4"/>
              </a:buClr>
              <a:buSzPts val="1360"/>
              <a:buFont typeface="Noto Sans"/>
              <a:buNone/>
            </a:pPr>
            <a:r>
              <a:rPr b="1" i="0" lang="en-US" sz="1360" u="none" cap="none" strike="noStrike">
                <a:solidFill>
                  <a:srgbClr val="12B8C4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1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2458363" y="3691323"/>
            <a:ext cx="409015" cy="179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B8C4"/>
              </a:buClr>
              <a:buSzPts val="1360"/>
              <a:buFont typeface="Noto Sans"/>
              <a:buNone/>
            </a:pPr>
            <a:r>
              <a:rPr b="1" i="0" lang="en-US" sz="1360" u="none" cap="none" strike="noStrike">
                <a:solidFill>
                  <a:srgbClr val="12B8C4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1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2458363" y="4379968"/>
            <a:ext cx="409015" cy="179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B8C4"/>
              </a:buClr>
              <a:buSzPts val="1360"/>
              <a:buFont typeface="Noto Sans"/>
              <a:buNone/>
            </a:pPr>
            <a:r>
              <a:rPr b="1" i="0" lang="en-US" sz="1360" u="none" cap="none" strike="noStrike">
                <a:solidFill>
                  <a:srgbClr val="12B8C4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1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458363" y="5046081"/>
            <a:ext cx="409015" cy="179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B8C4"/>
              </a:buClr>
              <a:buSzPts val="1360"/>
              <a:buFont typeface="Noto Sans"/>
              <a:buNone/>
            </a:pPr>
            <a:r>
              <a:rPr b="1" i="0" lang="en-US" sz="1360" u="none" cap="none" strike="noStrike">
                <a:solidFill>
                  <a:srgbClr val="12B8C4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1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458363" y="5711231"/>
            <a:ext cx="409015" cy="179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2B8C4"/>
              </a:buClr>
              <a:buSzPts val="1360"/>
              <a:buFont typeface="Noto Sans"/>
              <a:buNone/>
            </a:pPr>
            <a:r>
              <a:rPr b="1" i="0" lang="en-US" sz="1360" u="none" cap="none" strike="noStrike">
                <a:solidFill>
                  <a:srgbClr val="12B8C4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  <a:endParaRPr b="0" i="0" sz="13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895350" y="7133772"/>
            <a:ext cx="12820649" cy="9925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중요한 것은 이상이 감지된 뒤, 기술문서에서 근거를 찾고 점검·조치에 필요한 정보를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작업자에게 전달하는 것입니다.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8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solidFill>
            <a:srgbClr val="00A6B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13715999" y="-1828800"/>
            <a:ext cx="3474720" cy="347472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2984480" y="-2560320"/>
            <a:ext cx="4937760" cy="493776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16812513" y="-1151956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7820724" y="273268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3884754" y="71323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3366963" y="-1571539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5564014" y="83511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10997" y="1235202"/>
            <a:ext cx="1343373" cy="310896"/>
          </a:xfrm>
          <a:prstGeom prst="roundRect">
            <a:avLst>
              <a:gd fmla="val 50000" name="adj"/>
            </a:avLst>
          </a:prstGeom>
          <a:solidFill>
            <a:srgbClr val="D3E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09600" y="533400"/>
            <a:ext cx="66675" cy="542925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76300" y="495300"/>
            <a:ext cx="13716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분리된 진단 과정을 하나의 AI Agent Workflow로.</a:t>
            </a:r>
            <a:endParaRPr b="1" i="0" sz="3075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847725" y="1244600"/>
            <a:ext cx="1333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해결 방안</a:t>
            </a:r>
            <a:endParaRPr b="1" i="0" sz="127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09600" y="8010525"/>
            <a:ext cx="14020800" cy="9525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4097000" y="8086725"/>
            <a:ext cx="52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19125" y="1990725"/>
            <a:ext cx="2319762" cy="952500"/>
          </a:xfrm>
          <a:prstGeom prst="roundRect">
            <a:avLst>
              <a:gd fmla="val 11520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976987" y="240982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180498" y="1990725"/>
            <a:ext cx="2676589" cy="952500"/>
          </a:xfrm>
          <a:prstGeom prst="roundRect">
            <a:avLst>
              <a:gd fmla="val 11520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884390" y="2409825"/>
            <a:ext cx="255071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163360" y="1990725"/>
            <a:ext cx="1892399" cy="952500"/>
          </a:xfrm>
          <a:prstGeom prst="roundRect">
            <a:avLst>
              <a:gd fmla="val 11520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8348974" y="1990725"/>
            <a:ext cx="1239990" cy="952500"/>
          </a:xfrm>
          <a:prstGeom prst="roundRect">
            <a:avLst>
              <a:gd fmla="val 11520" name="adj"/>
            </a:avLst>
          </a:prstGeom>
          <a:solidFill>
            <a:srgbClr val="E4F3EC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104618" y="2226000"/>
            <a:ext cx="1733550" cy="540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846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</a:t>
            </a:r>
            <a:endParaRPr b="1" i="0" sz="1800" u="none" cap="none" strike="noStrike">
              <a:solidFill>
                <a:srgbClr val="25846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8465"/>
                </a:solidFill>
                <a:latin typeface="Malgun Gothic"/>
                <a:ea typeface="Malgun Gothic"/>
                <a:cs typeface="Malgun Gothic"/>
                <a:sym typeface="Malgun Gothic"/>
              </a:rPr>
              <a:t>Normal</a:t>
            </a:r>
            <a:endParaRPr b="1" i="0" sz="1200" u="none" cap="none" strike="noStrike">
              <a:solidFill>
                <a:srgbClr val="25846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9647469" y="240982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915524" y="1990725"/>
            <a:ext cx="2419351" cy="952500"/>
          </a:xfrm>
          <a:prstGeom prst="roundRect">
            <a:avLst>
              <a:gd fmla="val 11520" name="adj"/>
            </a:avLst>
          </a:prstGeom>
          <a:solidFill>
            <a:srgbClr val="E4F3EC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9982198" y="2226000"/>
            <a:ext cx="2286002" cy="534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8465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RAG·후속 진단 생략</a:t>
            </a:r>
            <a:endParaRPr b="1" i="0" sz="1800" u="none" cap="none" strike="noStrike">
              <a:solidFill>
                <a:srgbClr val="25846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8465"/>
                </a:solidFill>
                <a:latin typeface="Malgun Gothic"/>
                <a:ea typeface="Malgun Gothic"/>
                <a:cs typeface="Malgun Gothic"/>
                <a:sym typeface="Malgun Gothic"/>
              </a:rPr>
              <a:t>Normal Path</a:t>
            </a:r>
            <a:endParaRPr b="1" i="0" sz="1200" u="none" cap="none" strike="noStrike">
              <a:solidFill>
                <a:srgbClr val="25846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2372975" y="240982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2620625" y="1990725"/>
            <a:ext cx="2000250" cy="952500"/>
          </a:xfrm>
          <a:prstGeom prst="roundRect">
            <a:avLst>
              <a:gd fmla="val 11520" name="adj"/>
            </a:avLst>
          </a:prstGeom>
          <a:solidFill>
            <a:srgbClr val="E4F3EC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12620624" y="2226000"/>
            <a:ext cx="20097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5846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결과 보고서</a:t>
            </a:r>
            <a:endParaRPr b="1" i="0" sz="1800" u="none" cap="none" strike="noStrike">
              <a:solidFill>
                <a:srgbClr val="258465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58465"/>
                </a:solidFill>
                <a:latin typeface="Malgun Gothic"/>
                <a:ea typeface="Malgun Gothic"/>
                <a:cs typeface="Malgun Gothic"/>
                <a:sym typeface="Malgun Gothic"/>
              </a:rPr>
              <a:t>Normal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6429375" y="2943225"/>
            <a:ext cx="19050" cy="495300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381125" y="3419475"/>
            <a:ext cx="5067300" cy="19050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335550" y="3419475"/>
            <a:ext cx="51459" cy="282045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619125" y="3790950"/>
            <a:ext cx="1748516" cy="1076325"/>
          </a:xfrm>
          <a:prstGeom prst="roundRect">
            <a:avLst>
              <a:gd fmla="val 10194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2399220" y="425767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657474" y="3790950"/>
            <a:ext cx="1116337" cy="1076325"/>
          </a:xfrm>
          <a:prstGeom prst="roundRect">
            <a:avLst>
              <a:gd fmla="val 10194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3819378" y="425767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083668" y="3790950"/>
            <a:ext cx="1863624" cy="1076325"/>
          </a:xfrm>
          <a:prstGeom prst="roundRect">
            <a:avLst>
              <a:gd fmla="val 10194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996683" y="425767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6233042" y="3790950"/>
            <a:ext cx="1806136" cy="1076325"/>
          </a:xfrm>
          <a:prstGeom prst="roundRect">
            <a:avLst>
              <a:gd fmla="val 10194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8100571" y="425767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8348974" y="3790950"/>
            <a:ext cx="2033276" cy="1076325"/>
          </a:xfrm>
          <a:prstGeom prst="roundRect">
            <a:avLst>
              <a:gd fmla="val 10194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0420350" y="425767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10668000" y="3790950"/>
            <a:ext cx="1666875" cy="1076325"/>
          </a:xfrm>
          <a:prstGeom prst="roundRect">
            <a:avLst>
              <a:gd fmla="val 10194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12372975" y="425767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12620625" y="3790950"/>
            <a:ext cx="2000250" cy="1076325"/>
          </a:xfrm>
          <a:prstGeom prst="roundRect">
            <a:avLst>
              <a:gd fmla="val 10194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19125" y="5295900"/>
            <a:ext cx="4476750" cy="1581150"/>
          </a:xfrm>
          <a:prstGeom prst="roundRect">
            <a:avLst>
              <a:gd fmla="val 9253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847725" y="5495925"/>
            <a:ext cx="4000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847725" y="6019800"/>
            <a:ext cx="4000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상태에 따라 다음 작업 자동 선택</a:t>
            </a:r>
            <a:endParaRPr b="0" i="0" sz="195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5334000" y="5295900"/>
            <a:ext cx="4476750" cy="1581150"/>
          </a:xfrm>
          <a:prstGeom prst="roundRect">
            <a:avLst>
              <a:gd fmla="val 9253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562600" y="5495925"/>
            <a:ext cx="4000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5562600" y="6019800"/>
            <a:ext cx="40005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문서 근거 기반 진단</a:t>
            </a:r>
            <a:endParaRPr b="0" i="0" sz="195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0048875" y="5295900"/>
            <a:ext cx="4543424" cy="1581150"/>
          </a:xfrm>
          <a:prstGeom prst="roundRect">
            <a:avLst>
              <a:gd fmla="val 9253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10277475" y="5495925"/>
            <a:ext cx="4000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행동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483458" y="5402140"/>
            <a:ext cx="512034" cy="512034"/>
          </a:xfrm>
          <a:prstGeom prst="ellipse">
            <a:avLst/>
          </a:prstGeom>
          <a:solidFill>
            <a:srgbClr val="1765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1467" y="5530148"/>
            <a:ext cx="256017" cy="25601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"/>
          <p:cNvSpPr/>
          <p:nvPr/>
        </p:nvSpPr>
        <p:spPr>
          <a:xfrm>
            <a:off x="9198334" y="5402140"/>
            <a:ext cx="512034" cy="512034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26342" y="5530148"/>
            <a:ext cx="256017" cy="25601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"/>
          <p:cNvSpPr/>
          <p:nvPr/>
        </p:nvSpPr>
        <p:spPr>
          <a:xfrm>
            <a:off x="13913209" y="5402140"/>
            <a:ext cx="512034" cy="512034"/>
          </a:xfrm>
          <a:prstGeom prst="ellipse">
            <a:avLst/>
          </a:prstGeom>
          <a:solidFill>
            <a:srgbClr val="C875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41218" y="5530148"/>
            <a:ext cx="256017" cy="25601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5"/>
          <p:cNvSpPr/>
          <p:nvPr/>
        </p:nvSpPr>
        <p:spPr>
          <a:xfrm>
            <a:off x="0" y="0"/>
            <a:ext cx="15240000" cy="72736"/>
          </a:xfrm>
          <a:prstGeom prst="rect">
            <a:avLst/>
          </a:prstGeom>
          <a:solidFill>
            <a:srgbClr val="0FB7C3"/>
          </a:solidFill>
          <a:ln cap="flat" cmpd="sng" w="12700">
            <a:solidFill>
              <a:srgbClr val="0FB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01618" y="2226000"/>
            <a:ext cx="2012089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측정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Recorded Measurement</a:t>
            </a:r>
            <a:endParaRPr b="1" i="0" sz="1200" u="none" cap="none" strike="noStrike">
              <a:solidFill>
                <a:srgbClr val="59595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670263" y="4076851"/>
            <a:ext cx="166635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기술근거</a:t>
            </a:r>
            <a:endParaRPr b="1" i="0" sz="18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Evidence</a:t>
            </a:r>
            <a:endParaRPr b="1" i="0" sz="12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2752005" y="4076851"/>
            <a:ext cx="89159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진단</a:t>
            </a:r>
            <a:endParaRPr b="1" i="0" sz="18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Diagnosis</a:t>
            </a:r>
            <a:endParaRPr b="1" i="0" sz="12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155193" y="4060976"/>
            <a:ext cx="173316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진단 근거 확인</a:t>
            </a:r>
            <a:endParaRPr b="1" i="0" sz="18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Evidence verification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6270798" y="4076851"/>
            <a:ext cx="173316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점검 계획 수립</a:t>
            </a:r>
            <a:endParaRPr b="1" i="0" sz="18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Inspection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8348974" y="4076851"/>
            <a:ext cx="1995033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조치 권고</a:t>
            </a:r>
            <a:endParaRPr b="1" i="0" sz="18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Action Recommendation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10744755" y="4076851"/>
            <a:ext cx="142058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사람의 확인</a:t>
            </a:r>
            <a:endParaRPr b="1" i="0" sz="18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HITL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12910460" y="4076851"/>
            <a:ext cx="1420582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보고서</a:t>
            </a:r>
            <a:endParaRPr b="1" i="0" sz="18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Final Report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6454116" y="3155031"/>
            <a:ext cx="906017" cy="565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5CE"/>
              </a:buClr>
              <a:buSzPts val="1875"/>
              <a:buFont typeface="Malgun Gothic"/>
              <a:buNone/>
            </a:pPr>
            <a:r>
              <a:rPr b="1" i="0" lang="en-US" sz="18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</a:t>
            </a:r>
            <a:endParaRPr b="1" i="0" sz="187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5CE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Abnormal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28302" y="7229475"/>
            <a:ext cx="13963997" cy="676275"/>
          </a:xfrm>
          <a:prstGeom prst="roundRect">
            <a:avLst>
              <a:gd fmla="val 13793" name="adj"/>
            </a:avLst>
          </a:prstGeom>
          <a:solidFill>
            <a:srgbClr val="F8FBFC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2251710" y="743506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62788A"/>
                </a:solidFill>
                <a:latin typeface="Noto Sans"/>
                <a:ea typeface="Noto Sans"/>
                <a:cs typeface="Noto Sans"/>
                <a:sym typeface="Noto Sans"/>
              </a:rPr>
              <a:t>정상 판정: 추가 진단이 필요한 이상 신호가 없어 빠르게 종료  |  이상 판정: 기술 근거를 찾아 진단·점검·조치로 진행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3260062" y="2226000"/>
            <a:ext cx="253543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Bearing 상태 판별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Classification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308205" y="2226000"/>
            <a:ext cx="1629741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/ 이상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95959"/>
                </a:solidFill>
                <a:latin typeface="Malgun Gothic"/>
                <a:ea typeface="Malgun Gothic"/>
                <a:cs typeface="Malgun Gothic"/>
                <a:sym typeface="Malgun Gothic"/>
              </a:rPr>
              <a:t>Normal / Abnormal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8105960" y="240982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0277475" y="6019800"/>
            <a:ext cx="416011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AI는 점검 계획과 조치 방법을 제안하며,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중요한 결정은 작업자가 합니다.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8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solidFill>
            <a:srgbClr val="00A6B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13715999" y="-1828800"/>
            <a:ext cx="3474720" cy="347472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12984480" y="-2560320"/>
            <a:ext cx="4937760" cy="493776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16812513" y="-1151956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7820724" y="273268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13884754" y="71323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3366963" y="-1571539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15564014" y="83511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609014" y="1235202"/>
            <a:ext cx="1824256" cy="310896"/>
          </a:xfrm>
          <a:prstGeom prst="roundRect">
            <a:avLst>
              <a:gd fmla="val 50000" name="adj"/>
            </a:avLst>
          </a:prstGeom>
          <a:solidFill>
            <a:srgbClr val="D3E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609600" y="5285232"/>
            <a:ext cx="3459070" cy="1463040"/>
          </a:xfrm>
          <a:prstGeom prst="roundRect">
            <a:avLst>
              <a:gd fmla="val 8750" name="adj"/>
            </a:avLst>
          </a:prstGeom>
          <a:solidFill>
            <a:srgbClr val="E3E9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141534" y="5285232"/>
            <a:ext cx="9384091" cy="1463040"/>
          </a:xfrm>
          <a:prstGeom prst="roundRect">
            <a:avLst>
              <a:gd fmla="val 8750" name="adj"/>
            </a:avLst>
          </a:prstGeom>
          <a:solidFill>
            <a:srgbClr val="1765CE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09600" y="533400"/>
            <a:ext cx="66675" cy="542925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876300" y="495300"/>
            <a:ext cx="13716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왜 이것이 AI Agent인가?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779600" y="1245725"/>
            <a:ext cx="1333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WHY AI AGENT?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09600" y="8010525"/>
            <a:ext cx="14020800" cy="9525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14097000" y="8086725"/>
            <a:ext cx="52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619125" y="1819275"/>
            <a:ext cx="4476750" cy="1466850"/>
          </a:xfrm>
          <a:prstGeom prst="roundRect">
            <a:avLst>
              <a:gd fmla="val 3116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19125" y="1819275"/>
            <a:ext cx="47625" cy="1466850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363035" y="1819275"/>
            <a:ext cx="4476750" cy="1466850"/>
          </a:xfrm>
          <a:prstGeom prst="roundRect">
            <a:avLst>
              <a:gd fmla="val 3116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334000" y="1819275"/>
            <a:ext cx="47625" cy="1466850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10048875" y="1819275"/>
            <a:ext cx="4476750" cy="1466850"/>
          </a:xfrm>
          <a:prstGeom prst="roundRect">
            <a:avLst>
              <a:gd fmla="val 3116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10048875" y="1819275"/>
            <a:ext cx="47625" cy="1466850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19125" y="3514725"/>
            <a:ext cx="4476750" cy="1466850"/>
          </a:xfrm>
          <a:prstGeom prst="roundRect">
            <a:avLst>
              <a:gd fmla="val 3116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619125" y="3514725"/>
            <a:ext cx="47625" cy="1466850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334000" y="3514725"/>
            <a:ext cx="4476750" cy="1466850"/>
          </a:xfrm>
          <a:prstGeom prst="roundRect">
            <a:avLst>
              <a:gd fmla="val 3116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334000" y="3514725"/>
            <a:ext cx="47625" cy="1466850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10048875" y="3514725"/>
            <a:ext cx="4476750" cy="1466850"/>
          </a:xfrm>
          <a:prstGeom prst="roundRect">
            <a:avLst>
              <a:gd fmla="val 3116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10048875" y="3514725"/>
            <a:ext cx="47625" cy="1466850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814020" y="5486400"/>
            <a:ext cx="323850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일반 ChatGPT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814020" y="5943600"/>
            <a:ext cx="32385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Prompt →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202019" y="5641848"/>
            <a:ext cx="822960" cy="82296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00A6BF"/>
            </a:solidFill>
            <a:prstDash val="solid"/>
            <a:round/>
            <a:headEnd len="sm" w="sm" type="none"/>
            <a:tailEnd len="sm" w="sm" type="none"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4226169" y="5829300"/>
            <a:ext cx="76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00A6BF"/>
                </a:solidFill>
                <a:latin typeface="Malgun Gothic"/>
                <a:ea typeface="Malgun Gothic"/>
                <a:cs typeface="Malgun Gothic"/>
                <a:sym typeface="Malgun Gothic"/>
              </a:rPr>
              <a:t>VS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448300" y="5486400"/>
            <a:ext cx="8667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BDF1FB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Smart Factory Agent Office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448300" y="5981700"/>
            <a:ext cx="904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Goal → Planning → Reasoning → Tool → Memory → Feedback → Action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09600" y="7086600"/>
            <a:ext cx="13916025" cy="723900"/>
          </a:xfrm>
          <a:prstGeom prst="roundRect">
            <a:avLst>
              <a:gd fmla="val 17684" name="adj"/>
            </a:avLst>
          </a:prstGeom>
          <a:solidFill>
            <a:srgbClr val="132E4A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질문에 답만 하는 수준을 넘어, Bearing 상태를 판단하고 필요한 기능을 연결해 진단·점검·조치 과정을 수행하며,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중요한 조치는 작업자가 확인하도록 하는 AI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13871448" y="7192518"/>
            <a:ext cx="512064" cy="512064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99463" y="732053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6"/>
          <p:cNvSpPr/>
          <p:nvPr/>
        </p:nvSpPr>
        <p:spPr>
          <a:xfrm>
            <a:off x="0" y="0"/>
            <a:ext cx="15240000" cy="72736"/>
          </a:xfrm>
          <a:prstGeom prst="rect">
            <a:avLst/>
          </a:prstGeom>
          <a:solidFill>
            <a:srgbClr val="0FB7C3"/>
          </a:solidFill>
          <a:ln cap="flat" cmpd="sng" w="12700">
            <a:solidFill>
              <a:srgbClr val="0FB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829803" y="2031486"/>
            <a:ext cx="238863" cy="238863"/>
          </a:xfrm>
          <a:prstGeom prst="ellipse">
            <a:avLst/>
          </a:prstGeom>
          <a:solidFill>
            <a:srgbClr val="2D6CD3"/>
          </a:solidFill>
          <a:ln cap="flat" cmpd="sng" w="12700">
            <a:solidFill>
              <a:srgbClr val="2D6C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1149843" y="1990725"/>
            <a:ext cx="2822931" cy="30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CD3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D6CD3"/>
                </a:solidFill>
                <a:latin typeface="Noto Sans"/>
                <a:ea typeface="Noto Sans"/>
                <a:cs typeface="Noto Sans"/>
                <a:sym typeface="Noto Sans"/>
              </a:rPr>
              <a:t>목표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5564547" y="2031486"/>
            <a:ext cx="238863" cy="238863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5890114" y="1990725"/>
            <a:ext cx="2822931" cy="30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BF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00A6BF"/>
                </a:solidFill>
                <a:latin typeface="Noto Sans"/>
                <a:ea typeface="Noto Sans"/>
                <a:cs typeface="Noto Sans"/>
                <a:sym typeface="Noto Sans"/>
              </a:rPr>
              <a:t>계획</a:t>
            </a:r>
            <a:endParaRPr b="0" i="0" sz="1500" u="none" cap="none" strike="noStrike">
              <a:solidFill>
                <a:srgbClr val="00A6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10306747" y="2031486"/>
            <a:ext cx="238863" cy="238863"/>
          </a:xfrm>
          <a:prstGeom prst="ellipse">
            <a:avLst/>
          </a:prstGeom>
          <a:solidFill>
            <a:srgbClr val="2D6CD3"/>
          </a:solidFill>
          <a:ln cap="flat" cmpd="sng" w="12700">
            <a:solidFill>
              <a:srgbClr val="2D6C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10632314" y="1990725"/>
            <a:ext cx="2822931" cy="30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CD3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D6CD3"/>
                </a:solidFill>
                <a:latin typeface="Noto Sans"/>
                <a:ea typeface="Noto Sans"/>
                <a:cs typeface="Noto Sans"/>
                <a:sym typeface="Noto Sans"/>
              </a:rPr>
              <a:t>근거 기반 판단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807908" y="3726936"/>
            <a:ext cx="238863" cy="238863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1133475" y="3686175"/>
            <a:ext cx="2822931" cy="30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BF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00A6BF"/>
                </a:solidFill>
                <a:latin typeface="Noto Sans"/>
                <a:ea typeface="Noto Sans"/>
                <a:cs typeface="Noto Sans"/>
                <a:sym typeface="Noto Sans"/>
              </a:rPr>
              <a:t>도구 사용</a:t>
            </a:r>
            <a:endParaRPr b="0" i="0" sz="1500" u="none" cap="none" strike="noStrike">
              <a:solidFill>
                <a:srgbClr val="00A6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5634002" y="3727332"/>
            <a:ext cx="238863" cy="238863"/>
          </a:xfrm>
          <a:prstGeom prst="ellipse">
            <a:avLst/>
          </a:prstGeom>
          <a:solidFill>
            <a:srgbClr val="2D6CD3"/>
          </a:solidFill>
          <a:ln cap="flat" cmpd="sng" w="12700">
            <a:solidFill>
              <a:srgbClr val="2D6C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5954042" y="3686571"/>
            <a:ext cx="2822931" cy="30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CD3"/>
              </a:buClr>
              <a:buSzPts val="1500"/>
              <a:buFont typeface="Noto Sans"/>
              <a:buNone/>
            </a:pPr>
            <a:r>
              <a:rPr b="1" i="0" lang="en-US" sz="1500" u="none" cap="none" strike="noStrike">
                <a:solidFill>
                  <a:srgbClr val="2D6CD3"/>
                </a:solidFill>
                <a:latin typeface="Noto Sans"/>
                <a:ea typeface="Noto Sans"/>
                <a:cs typeface="Noto Sans"/>
                <a:sym typeface="Noto Sans"/>
              </a:rPr>
              <a:t>기억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10308025" y="3726936"/>
            <a:ext cx="238863" cy="238863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10633592" y="3686175"/>
            <a:ext cx="2822931" cy="304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0A6BF"/>
                </a:solidFill>
                <a:latin typeface="Noto Sans"/>
                <a:ea typeface="Noto Sans"/>
                <a:cs typeface="Noto Sans"/>
                <a:sym typeface="Noto Sans"/>
              </a:rPr>
              <a:t>작업자 확인 결과 반영</a:t>
            </a:r>
            <a:endParaRPr b="0" i="0" sz="1500" u="none" cap="none" strike="noStrike">
              <a:solidFill>
                <a:srgbClr val="00A6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904874" y="2642200"/>
            <a:ext cx="3765112" cy="425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Bearing 상태를 판별하고 작업자의 점검</a:t>
            </a:r>
            <a:r>
              <a:rPr b="0" i="0" lang="en-US" sz="14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</a:t>
            </a: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정비 판단을 지원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904874" y="4214439"/>
            <a:ext cx="449869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</a:t>
            </a:r>
            <a:r>
              <a:rPr b="0" i="0" lang="en-US" sz="14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 RAG </a:t>
            </a:r>
            <a:r>
              <a:rPr b="0" i="0" lang="en-US" sz="14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Chroma </a:t>
            </a:r>
            <a:r>
              <a:rPr b="0" i="0" lang="en-US" sz="14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API </a:t>
            </a:r>
            <a:r>
              <a:rPr b="0" i="0" lang="en-US" sz="14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 DB </a:t>
            </a:r>
            <a:r>
              <a:rPr b="0" i="0" lang="en-US" sz="14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· </a:t>
            </a: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Data를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 사용 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5612827" y="2642200"/>
            <a:ext cx="4088874" cy="2564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LangGraph가 단계 순서와 다음 작업을 관리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10305590" y="2642200"/>
            <a:ext cx="4435483" cy="434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기술문서를 근거로 이상 원인을 파악하고,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400"/>
              <a:buFont typeface="Malgun Gothic"/>
              <a:buNone/>
            </a:pP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그 판단에 필요한 근거가 충분한지 확인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5612827" y="4214439"/>
            <a:ext cx="4088874" cy="238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과거 진단 결과와 처리 이력을 저장하고 다시 확인</a:t>
            </a:r>
            <a:endParaRPr b="0" i="0" sz="1400" u="none" cap="none" strike="noStrike">
              <a:solidFill>
                <a:srgbClr val="18364D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10383604" y="4214439"/>
            <a:ext cx="3664839" cy="6941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작업자가 중요 조치에 대해 선택한 승인·수정 요청·거절 결과를 현재 진행 중인 AI Agent Workflow에 반영</a:t>
            </a:r>
            <a:endParaRPr b="0" i="0" sz="1400" u="none" cap="none" strike="noStrike">
              <a:solidFill>
                <a:srgbClr val="18364D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8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solidFill>
            <a:srgbClr val="00A6B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13715999" y="-1828800"/>
            <a:ext cx="3474720" cy="347472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12984480" y="-2560320"/>
            <a:ext cx="4937760" cy="493776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16812513" y="-1151956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17820724" y="273268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13884754" y="71323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13366963" y="-1571539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15564014" y="83511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88773" y="1235202"/>
            <a:ext cx="1902558" cy="315468"/>
          </a:xfrm>
          <a:prstGeom prst="roundRect">
            <a:avLst>
              <a:gd fmla="val 50000" name="adj"/>
            </a:avLst>
          </a:prstGeom>
          <a:solidFill>
            <a:srgbClr val="D3E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12648" y="3393639"/>
            <a:ext cx="3346704" cy="2471855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160520" y="3393639"/>
            <a:ext cx="3346704" cy="2471855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7717536" y="3393639"/>
            <a:ext cx="3346704" cy="2471855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11265408" y="3393639"/>
            <a:ext cx="3346704" cy="2471855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609600" y="533400"/>
            <a:ext cx="66675" cy="542925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876300" y="495300"/>
            <a:ext cx="13716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Data · ML · RAG · Agent를 하나로 연결.</a:t>
            </a:r>
            <a:endParaRPr b="1" i="0" sz="3075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894050" y="1243475"/>
            <a:ext cx="1333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구현 기술</a:t>
            </a:r>
            <a:endParaRPr b="1" i="0" sz="127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609600" y="8010525"/>
            <a:ext cx="14020800" cy="9525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14097000" y="8086725"/>
            <a:ext cx="52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09600" y="1781174"/>
            <a:ext cx="3343275" cy="1527809"/>
          </a:xfrm>
          <a:prstGeom prst="roundRect">
            <a:avLst>
              <a:gd fmla="val 10338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809625" y="1861185"/>
            <a:ext cx="29527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240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809625" y="2541270"/>
            <a:ext cx="3000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측정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16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Measurements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4162425" y="1781174"/>
            <a:ext cx="3343275" cy="1527809"/>
          </a:xfrm>
          <a:prstGeom prst="roundRect">
            <a:avLst>
              <a:gd fmla="val 10338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4331970" y="1861185"/>
            <a:ext cx="29527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A6BF"/>
                </a:solidFill>
                <a:latin typeface="Malgun Gothic"/>
                <a:ea typeface="Malgun Gothic"/>
                <a:cs typeface="Malgun Gothic"/>
                <a:sym typeface="Malgun Gothic"/>
              </a:rPr>
              <a:t>36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4362450" y="2541270"/>
            <a:ext cx="3000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입력 특징 값(Feature)</a:t>
            </a:r>
            <a:endParaRPr b="1" i="0" sz="7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3채널 x 12개</a:t>
            </a:r>
            <a:endParaRPr b="0" i="0" sz="14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7715250" y="1781174"/>
            <a:ext cx="3343275" cy="1527809"/>
          </a:xfrm>
          <a:prstGeom prst="roundRect">
            <a:avLst>
              <a:gd fmla="val 10338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7823835" y="1861185"/>
            <a:ext cx="29527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7915275" y="2541270"/>
            <a:ext cx="3000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문서</a:t>
            </a:r>
            <a:endParaRPr b="1" i="0" sz="1725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Paderborn + SKF</a:t>
            </a:r>
            <a:endParaRPr b="0" i="0" sz="14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11268075" y="1781174"/>
            <a:ext cx="3343275" cy="1527809"/>
          </a:xfrm>
          <a:prstGeom prst="roundRect">
            <a:avLst>
              <a:gd fmla="val 10338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11377039" y="1861185"/>
            <a:ext cx="2952750" cy="65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A6BF"/>
                </a:solidFill>
                <a:latin typeface="Malgun Gothic"/>
                <a:ea typeface="Malgun Gothic"/>
                <a:cs typeface="Malgun Gothic"/>
                <a:sym typeface="Malgun Gothic"/>
              </a:rPr>
              <a:t>183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11468100" y="2541270"/>
            <a:ext cx="30003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조각 (Chunk)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1" i="0" sz="7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Vectorized Chunk</a:t>
            </a:r>
            <a:endParaRPr b="0" i="0" sz="16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809625" y="3528895"/>
            <a:ext cx="32861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824456" y="3892701"/>
            <a:ext cx="3333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Paderborn Bearing Data</a:t>
            </a:r>
            <a:endParaRPr b="1" i="0" sz="1600" u="none" cap="none" strike="noStrike">
              <a:solidFill>
                <a:srgbClr val="132E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Center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824456" y="5061192"/>
            <a:ext cx="3333750" cy="256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대표 Bearing K001 · KA01 · KI01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824455" y="5287171"/>
            <a:ext cx="3388233" cy="3333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측정 Data를 시간 순서대로 재생(Replay)</a:t>
            </a:r>
            <a:endParaRPr b="0" i="0" sz="1300" u="none" cap="none" strike="noStrike">
              <a:solidFill>
                <a:srgbClr val="132E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7"/>
          <p:cNvSpPr/>
          <p:nvPr/>
        </p:nvSpPr>
        <p:spPr>
          <a:xfrm>
            <a:off x="4359719" y="3528895"/>
            <a:ext cx="32861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/>
          <p:nvPr/>
        </p:nvSpPr>
        <p:spPr>
          <a:xfrm>
            <a:off x="4368518" y="3892701"/>
            <a:ext cx="3333750" cy="7776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Random Forest Classifier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7915275" y="3527155"/>
            <a:ext cx="32861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7931658" y="3892701"/>
            <a:ext cx="3333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Chroma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(관련 기술문서를 찾는 검색 DB)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컬렉션: bearing_v1</a:t>
            </a:r>
            <a:endParaRPr b="1" i="0" sz="1600" u="none" cap="none" strike="noStrike">
              <a:solidFill>
                <a:srgbClr val="132E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7931658" y="4823805"/>
            <a:ext cx="333375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384차원 Hashing Vectorizer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(문서 내용을 384개의 숫자로 변환)</a:t>
            </a:r>
            <a:endParaRPr b="0" i="0" sz="1200" u="none" cap="none" strike="noStrike">
              <a:solidFill>
                <a:srgbClr val="132E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11345005" y="3528895"/>
            <a:ext cx="32861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/>
          <p:nvPr/>
        </p:nvSpPr>
        <p:spPr>
          <a:xfrm>
            <a:off x="11322324" y="3885418"/>
            <a:ext cx="3862961" cy="600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LangGraph 25개 처리단계 연결</a:t>
            </a:r>
            <a:endParaRPr b="1" i="0" sz="1600" u="none" cap="none" strike="noStrike">
              <a:solidFill>
                <a:srgbClr val="132E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7"/>
          <p:cNvSpPr/>
          <p:nvPr/>
        </p:nvSpPr>
        <p:spPr>
          <a:xfrm>
            <a:off x="11466576" y="4818458"/>
            <a:ext cx="3333750" cy="470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Bearing의 상태에 따라</a:t>
            </a:r>
            <a:endParaRPr b="0" i="0" sz="1300" u="none" cap="none" strike="noStrike">
              <a:solidFill>
                <a:srgbClr val="132E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 작업을 자동 선택</a:t>
            </a:r>
            <a:endParaRPr b="0" i="0" sz="1300" u="none" cap="none" strike="noStrike">
              <a:solidFill>
                <a:srgbClr val="132E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609600" y="5970269"/>
            <a:ext cx="14020800" cy="1800225"/>
          </a:xfrm>
          <a:prstGeom prst="roundRect">
            <a:avLst>
              <a:gd fmla="val 8126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/>
          <p:nvPr/>
        </p:nvSpPr>
        <p:spPr>
          <a:xfrm>
            <a:off x="828675" y="6052184"/>
            <a:ext cx="13430250" cy="92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p7"/>
          <p:cNvSpPr/>
          <p:nvPr/>
        </p:nvSpPr>
        <p:spPr>
          <a:xfrm>
            <a:off x="828675" y="6717510"/>
            <a:ext cx="13335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Train 180 / Test 60 Measurements · Train 718 / Test 239 분석 구간(Windows)</a:t>
            </a:r>
            <a:endParaRPr b="0" i="0" sz="16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7"/>
          <p:cNvSpPr/>
          <p:nvPr/>
        </p:nvSpPr>
        <p:spPr>
          <a:xfrm>
            <a:off x="828675" y="7070773"/>
            <a:ext cx="3333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Test F1 점수  = 1.0*</a:t>
            </a:r>
            <a:endParaRPr b="1" i="0" sz="21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(정상·이상 판별 성능 평가 지표)</a:t>
            </a:r>
            <a:endParaRPr b="1" i="0" sz="15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p7"/>
          <p:cNvSpPr/>
          <p:nvPr/>
        </p:nvSpPr>
        <p:spPr>
          <a:xfrm>
            <a:off x="3254882" y="1912240"/>
            <a:ext cx="566928" cy="566928"/>
          </a:xfrm>
          <a:prstGeom prst="ellipse">
            <a:avLst/>
          </a:prstGeom>
          <a:solidFill>
            <a:srgbClr val="1765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6614" y="2053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7"/>
          <p:cNvSpPr/>
          <p:nvPr/>
        </p:nvSpPr>
        <p:spPr>
          <a:xfrm>
            <a:off x="6807706" y="1912240"/>
            <a:ext cx="566928" cy="566928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438" y="2053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7"/>
          <p:cNvSpPr/>
          <p:nvPr/>
        </p:nvSpPr>
        <p:spPr>
          <a:xfrm>
            <a:off x="10360532" y="1912240"/>
            <a:ext cx="566928" cy="566928"/>
          </a:xfrm>
          <a:prstGeom prst="ellipse">
            <a:avLst/>
          </a:prstGeom>
          <a:solidFill>
            <a:srgbClr val="1765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02264" y="2053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7"/>
          <p:cNvSpPr/>
          <p:nvPr/>
        </p:nvSpPr>
        <p:spPr>
          <a:xfrm>
            <a:off x="13913357" y="1912240"/>
            <a:ext cx="566928" cy="566928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55089" y="2053972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7"/>
          <p:cNvSpPr/>
          <p:nvPr/>
        </p:nvSpPr>
        <p:spPr>
          <a:xfrm>
            <a:off x="13876371" y="6112059"/>
            <a:ext cx="530352" cy="530352"/>
          </a:xfrm>
          <a:prstGeom prst="ellipse">
            <a:avLst/>
          </a:prstGeom>
          <a:solidFill>
            <a:srgbClr val="C875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008959" y="6209478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7"/>
          <p:cNvSpPr/>
          <p:nvPr/>
        </p:nvSpPr>
        <p:spPr>
          <a:xfrm>
            <a:off x="0" y="0"/>
            <a:ext cx="15240000" cy="72736"/>
          </a:xfrm>
          <a:prstGeom prst="rect">
            <a:avLst/>
          </a:prstGeom>
          <a:solidFill>
            <a:srgbClr val="0FB7C3"/>
          </a:solidFill>
          <a:ln cap="flat" cmpd="sng" w="12700">
            <a:solidFill>
              <a:srgbClr val="0FB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7931657" y="5322291"/>
            <a:ext cx="3852741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문서명· 페이지· Section· Chunk의</a:t>
            </a:r>
            <a:endParaRPr b="0" i="0" sz="130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출처를 기록</a:t>
            </a:r>
            <a:endParaRPr b="0" i="0" sz="1300" u="none" cap="none" strike="noStrike">
              <a:solidFill>
                <a:srgbClr val="132E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/>
          <p:nvPr/>
        </p:nvSpPr>
        <p:spPr>
          <a:xfrm>
            <a:off x="11466576" y="5322291"/>
            <a:ext cx="315277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진단 과정의 중단 지점·실행 이력을</a:t>
            </a:r>
            <a:endParaRPr b="0" i="0" sz="130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저장하고, 최종 보고서를 생성·저장</a:t>
            </a:r>
            <a:endParaRPr b="0" i="0" sz="1300" u="none" cap="none" strike="noStrike">
              <a:solidFill>
                <a:srgbClr val="132E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7"/>
          <p:cNvSpPr/>
          <p:nvPr/>
        </p:nvSpPr>
        <p:spPr>
          <a:xfrm>
            <a:off x="4335018" y="5498187"/>
            <a:ext cx="349834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36개 특징 값으로 정상 · 이상 판별</a:t>
            </a:r>
            <a:endParaRPr b="0" i="0" sz="1300" u="none" cap="none" strike="noStrike">
              <a:solidFill>
                <a:srgbClr val="132E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7"/>
          <p:cNvSpPr/>
          <p:nvPr/>
        </p:nvSpPr>
        <p:spPr>
          <a:xfrm>
            <a:off x="828675" y="6075106"/>
            <a:ext cx="1081234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측정 Data는 미리 기록된 Bearing의 진동·전류 측정값을 불러와 순차적으로 재생(Replay)·분석하는 방식이며, 실제 공장 Sensor의 실시간 Data 수신(Streaming)은 아닙니다.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7"/>
          <p:cNvSpPr/>
          <p:nvPr/>
        </p:nvSpPr>
        <p:spPr>
          <a:xfrm>
            <a:off x="4368518" y="4149362"/>
            <a:ext cx="3333750" cy="409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(여러 특징 값을 종합해 Bearing의 </a:t>
            </a:r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정상·이상을 판별하는 ML 모델)</a:t>
            </a:r>
            <a:endParaRPr b="0" i="0" sz="1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1" i="0" sz="165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t/>
            </a:r>
            <a:endParaRPr b="1" i="0" sz="165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4331970" y="5262146"/>
            <a:ext cx="3333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300 Trees / Max Depth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4160520" y="7264679"/>
            <a:ext cx="108123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87521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K001·KA01·KI01 3개 대표 Bearing에서 분리한 60개 Test Measurement 내부 평가 결과입니다.</a:t>
            </a:r>
            <a:endParaRPr b="1" i="0" sz="1600" u="none" cap="none" strike="noStrike">
              <a:solidFill>
                <a:srgbClr val="C875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8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solidFill>
            <a:srgbClr val="00A6B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13715999" y="-1828800"/>
            <a:ext cx="3474720" cy="347472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12984480" y="-2560320"/>
            <a:ext cx="4937760" cy="493776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16812513" y="-1151956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17820724" y="273268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13884754" y="71323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/>
          <p:nvPr/>
        </p:nvSpPr>
        <p:spPr>
          <a:xfrm>
            <a:off x="13366963" y="-1571539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8"/>
          <p:cNvSpPr/>
          <p:nvPr/>
        </p:nvSpPr>
        <p:spPr>
          <a:xfrm>
            <a:off x="15564014" y="83511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578315" y="1235202"/>
            <a:ext cx="2274422" cy="310896"/>
          </a:xfrm>
          <a:prstGeom prst="roundRect">
            <a:avLst>
              <a:gd fmla="val 50000" name="adj"/>
            </a:avLst>
          </a:prstGeom>
          <a:solidFill>
            <a:srgbClr val="D3E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8"/>
          <p:cNvSpPr/>
          <p:nvPr/>
        </p:nvSpPr>
        <p:spPr>
          <a:xfrm>
            <a:off x="609600" y="533400"/>
            <a:ext cx="66675" cy="542925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8"/>
          <p:cNvSpPr/>
          <p:nvPr/>
        </p:nvSpPr>
        <p:spPr>
          <a:xfrm>
            <a:off x="876300" y="495300"/>
            <a:ext cx="13716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같은 AI Agent가 Bearing 상태에 따라 서로 다른 작업을 수행합니다.</a:t>
            </a:r>
            <a:endParaRPr b="1" i="0" sz="3075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p8"/>
          <p:cNvSpPr/>
          <p:nvPr/>
        </p:nvSpPr>
        <p:spPr>
          <a:xfrm>
            <a:off x="676275" y="1257300"/>
            <a:ext cx="1333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A / B / C 전체 처리 과정</a:t>
            </a:r>
            <a:endParaRPr b="1" i="0" sz="127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5" name="Google Shape;355;p8"/>
          <p:cNvSpPr/>
          <p:nvPr/>
        </p:nvSpPr>
        <p:spPr>
          <a:xfrm>
            <a:off x="609600" y="8010525"/>
            <a:ext cx="14020800" cy="9525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8"/>
          <p:cNvSpPr/>
          <p:nvPr/>
        </p:nvSpPr>
        <p:spPr>
          <a:xfrm>
            <a:off x="14097000" y="8086725"/>
            <a:ext cx="52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609600" y="1715896"/>
            <a:ext cx="4486275" cy="5257800"/>
          </a:xfrm>
          <a:prstGeom prst="roundRect">
            <a:avLst>
              <a:gd fmla="val 1019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749808" y="4186535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E4F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749808" y="3565945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E4F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749808" y="2945355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E4F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609600" y="1715896"/>
            <a:ext cx="4486275" cy="66675"/>
          </a:xfrm>
          <a:prstGeom prst="rect">
            <a:avLst/>
          </a:prstGeom>
          <a:solidFill>
            <a:srgbClr val="2584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/>
          <p:nvPr/>
        </p:nvSpPr>
        <p:spPr>
          <a:xfrm>
            <a:off x="838200" y="1934971"/>
            <a:ext cx="404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58465"/>
                </a:solidFill>
                <a:latin typeface="Malgun Gothic"/>
                <a:ea typeface="Malgun Gothic"/>
                <a:cs typeface="Malgun Gothic"/>
                <a:sym typeface="Malgun Gothic"/>
              </a:rPr>
              <a:t>A · 정상 시나리오</a:t>
            </a:r>
            <a:endParaRPr b="1" i="0" sz="2400" u="none" cap="none" strike="noStrike">
              <a:solidFill>
                <a:srgbClr val="25846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838200" y="2506471"/>
            <a:ext cx="4048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K001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2724150" y="3288255"/>
            <a:ext cx="333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8"/>
          <p:cNvSpPr/>
          <p:nvPr/>
        </p:nvSpPr>
        <p:spPr>
          <a:xfrm>
            <a:off x="2724150" y="3908845"/>
            <a:ext cx="333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8"/>
          <p:cNvSpPr/>
          <p:nvPr/>
        </p:nvSpPr>
        <p:spPr>
          <a:xfrm>
            <a:off x="749808" y="6111029"/>
            <a:ext cx="4038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58465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0 · 이벤트 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5324475" y="1715896"/>
            <a:ext cx="4486275" cy="5257800"/>
          </a:xfrm>
          <a:prstGeom prst="roundRect">
            <a:avLst>
              <a:gd fmla="val 1019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8"/>
          <p:cNvSpPr/>
          <p:nvPr/>
        </p:nvSpPr>
        <p:spPr>
          <a:xfrm>
            <a:off x="5458968" y="5451161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E6EF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8"/>
          <p:cNvSpPr/>
          <p:nvPr/>
        </p:nvSpPr>
        <p:spPr>
          <a:xfrm>
            <a:off x="5458968" y="4807125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E6EF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1765C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8"/>
          <p:cNvSpPr/>
          <p:nvPr/>
        </p:nvSpPr>
        <p:spPr>
          <a:xfrm>
            <a:off x="5458968" y="4186535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E6EF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8"/>
          <p:cNvSpPr/>
          <p:nvPr/>
        </p:nvSpPr>
        <p:spPr>
          <a:xfrm>
            <a:off x="5458968" y="3565945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E6EF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8"/>
          <p:cNvSpPr/>
          <p:nvPr/>
        </p:nvSpPr>
        <p:spPr>
          <a:xfrm>
            <a:off x="5458968" y="2945355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E6EF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8"/>
          <p:cNvSpPr/>
          <p:nvPr/>
        </p:nvSpPr>
        <p:spPr>
          <a:xfrm>
            <a:off x="5324475" y="1715896"/>
            <a:ext cx="4486275" cy="66675"/>
          </a:xfrm>
          <a:prstGeom prst="rect">
            <a:avLst/>
          </a:prstGeom>
          <a:solidFill>
            <a:srgbClr val="1765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/>
          <p:nvPr/>
        </p:nvSpPr>
        <p:spPr>
          <a:xfrm>
            <a:off x="5553075" y="1934971"/>
            <a:ext cx="404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B · 손상(이상) 시나리오</a:t>
            </a:r>
            <a:endParaRPr b="1" i="0" sz="24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8"/>
          <p:cNvSpPr/>
          <p:nvPr/>
        </p:nvSpPr>
        <p:spPr>
          <a:xfrm>
            <a:off x="5553075" y="2506471"/>
            <a:ext cx="4048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KA01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/>
          <p:nvPr/>
        </p:nvSpPr>
        <p:spPr>
          <a:xfrm>
            <a:off x="7439025" y="3288255"/>
            <a:ext cx="333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8"/>
          <p:cNvSpPr/>
          <p:nvPr/>
        </p:nvSpPr>
        <p:spPr>
          <a:xfrm>
            <a:off x="7439025" y="3920568"/>
            <a:ext cx="333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"/>
          <p:cNvSpPr/>
          <p:nvPr/>
        </p:nvSpPr>
        <p:spPr>
          <a:xfrm>
            <a:off x="7439025" y="4541158"/>
            <a:ext cx="333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8"/>
          <p:cNvSpPr/>
          <p:nvPr/>
        </p:nvSpPr>
        <p:spPr>
          <a:xfrm>
            <a:off x="7439025" y="5173471"/>
            <a:ext cx="333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"/>
          <p:cNvSpPr/>
          <p:nvPr/>
        </p:nvSpPr>
        <p:spPr>
          <a:xfrm>
            <a:off x="10039350" y="1715896"/>
            <a:ext cx="4486275" cy="5257800"/>
          </a:xfrm>
          <a:prstGeom prst="roundRect">
            <a:avLst>
              <a:gd fmla="val 1019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8"/>
          <p:cNvSpPr/>
          <p:nvPr/>
        </p:nvSpPr>
        <p:spPr>
          <a:xfrm>
            <a:off x="10177272" y="5451161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FBE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8"/>
          <p:cNvSpPr/>
          <p:nvPr/>
        </p:nvSpPr>
        <p:spPr>
          <a:xfrm>
            <a:off x="10177272" y="4807125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FBE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8"/>
          <p:cNvSpPr/>
          <p:nvPr/>
        </p:nvSpPr>
        <p:spPr>
          <a:xfrm>
            <a:off x="10177272" y="4186535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FBE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8"/>
          <p:cNvSpPr/>
          <p:nvPr/>
        </p:nvSpPr>
        <p:spPr>
          <a:xfrm>
            <a:off x="10177272" y="3565945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FBE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8"/>
          <p:cNvSpPr/>
          <p:nvPr/>
        </p:nvSpPr>
        <p:spPr>
          <a:xfrm>
            <a:off x="10177272" y="2945355"/>
            <a:ext cx="4215384" cy="371475"/>
          </a:xfrm>
          <a:prstGeom prst="roundRect">
            <a:avLst>
              <a:gd fmla="val 24615" name="adj"/>
            </a:avLst>
          </a:prstGeom>
          <a:solidFill>
            <a:srgbClr val="FBEFD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8"/>
          <p:cNvSpPr/>
          <p:nvPr/>
        </p:nvSpPr>
        <p:spPr>
          <a:xfrm>
            <a:off x="10039350" y="1715896"/>
            <a:ext cx="4486275" cy="66675"/>
          </a:xfrm>
          <a:prstGeom prst="rect">
            <a:avLst/>
          </a:prstGeom>
          <a:solidFill>
            <a:srgbClr val="C875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8"/>
          <p:cNvSpPr/>
          <p:nvPr/>
        </p:nvSpPr>
        <p:spPr>
          <a:xfrm>
            <a:off x="10056930" y="1934971"/>
            <a:ext cx="40481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87521"/>
                </a:solidFill>
                <a:latin typeface="Malgun Gothic"/>
                <a:ea typeface="Malgun Gothic"/>
                <a:cs typeface="Malgun Gothic"/>
                <a:sym typeface="Malgun Gothic"/>
              </a:rPr>
              <a:t>C · 작업자 확인 시나리오 (HITL)</a:t>
            </a:r>
            <a:endParaRPr b="1" i="0" sz="2000" u="none" cap="none" strike="noStrike">
              <a:solidFill>
                <a:srgbClr val="C875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p8"/>
          <p:cNvSpPr/>
          <p:nvPr/>
        </p:nvSpPr>
        <p:spPr>
          <a:xfrm>
            <a:off x="10267950" y="2506471"/>
            <a:ext cx="40481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KA01 + 작업자 확인</a:t>
            </a:r>
            <a:endParaRPr b="1" i="0" sz="18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12153900" y="3288255"/>
            <a:ext cx="333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8"/>
          <p:cNvSpPr/>
          <p:nvPr/>
        </p:nvSpPr>
        <p:spPr>
          <a:xfrm>
            <a:off x="12153900" y="3920568"/>
            <a:ext cx="333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8"/>
          <p:cNvSpPr/>
          <p:nvPr/>
        </p:nvSpPr>
        <p:spPr>
          <a:xfrm>
            <a:off x="12153900" y="4541158"/>
            <a:ext cx="333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8"/>
          <p:cNvSpPr/>
          <p:nvPr/>
        </p:nvSpPr>
        <p:spPr>
          <a:xfrm>
            <a:off x="12153900" y="5173471"/>
            <a:ext cx="3333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8"/>
          <p:cNvSpPr/>
          <p:nvPr/>
        </p:nvSpPr>
        <p:spPr>
          <a:xfrm>
            <a:off x="4398264" y="1906601"/>
            <a:ext cx="566928" cy="566928"/>
          </a:xfrm>
          <a:prstGeom prst="ellipse">
            <a:avLst/>
          </a:prstGeom>
          <a:solidFill>
            <a:srgbClr val="2584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4" name="Google Shape;39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9996" y="2048333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8"/>
          <p:cNvSpPr/>
          <p:nvPr/>
        </p:nvSpPr>
        <p:spPr>
          <a:xfrm>
            <a:off x="9107424" y="1906601"/>
            <a:ext cx="566928" cy="566928"/>
          </a:xfrm>
          <a:prstGeom prst="ellipse">
            <a:avLst/>
          </a:prstGeom>
          <a:solidFill>
            <a:srgbClr val="1765C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9156" y="2048333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8"/>
          <p:cNvSpPr/>
          <p:nvPr/>
        </p:nvSpPr>
        <p:spPr>
          <a:xfrm>
            <a:off x="13854802" y="1906601"/>
            <a:ext cx="566928" cy="566928"/>
          </a:xfrm>
          <a:prstGeom prst="ellipse">
            <a:avLst/>
          </a:prstGeom>
          <a:solidFill>
            <a:srgbClr val="C875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8" name="Google Shape;3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96534" y="2048333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8"/>
          <p:cNvSpPr/>
          <p:nvPr/>
        </p:nvSpPr>
        <p:spPr>
          <a:xfrm>
            <a:off x="0" y="0"/>
            <a:ext cx="15240000" cy="72736"/>
          </a:xfrm>
          <a:prstGeom prst="rect">
            <a:avLst/>
          </a:prstGeom>
          <a:solidFill>
            <a:srgbClr val="0FB7C3"/>
          </a:solidFill>
          <a:ln cap="flat" cmpd="sng" w="12700">
            <a:solidFill>
              <a:srgbClr val="0FB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8"/>
          <p:cNvSpPr/>
          <p:nvPr/>
        </p:nvSpPr>
        <p:spPr>
          <a:xfrm>
            <a:off x="5438775" y="6111029"/>
            <a:ext cx="4038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9 · 이벤트 37</a:t>
            </a:r>
            <a:endParaRPr b="0" i="0" sz="20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1" name="Google Shape;401;p8"/>
          <p:cNvSpPr/>
          <p:nvPr/>
        </p:nvSpPr>
        <p:spPr>
          <a:xfrm>
            <a:off x="10280650" y="6111029"/>
            <a:ext cx="40386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D28D47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9 · 이벤트 46</a:t>
            </a:r>
            <a:endParaRPr b="0" i="0" sz="2000" u="none" cap="none" strike="noStrike">
              <a:solidFill>
                <a:srgbClr val="D28D47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p8"/>
          <p:cNvSpPr/>
          <p:nvPr/>
        </p:nvSpPr>
        <p:spPr>
          <a:xfrm>
            <a:off x="876300" y="6549124"/>
            <a:ext cx="2788920" cy="198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62788A"/>
                </a:solidFill>
                <a:latin typeface="Noto Sans"/>
                <a:ea typeface="Noto Sans"/>
                <a:cs typeface="Noto Sans"/>
                <a:sym typeface="Noto Sans"/>
              </a:rPr>
              <a:t>추가 이상 신호가 없어 후속 진단 불필요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8"/>
          <p:cNvSpPr/>
          <p:nvPr/>
        </p:nvSpPr>
        <p:spPr>
          <a:xfrm>
            <a:off x="5553075" y="6493801"/>
            <a:ext cx="2788920" cy="27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200"/>
              <a:buFont typeface="Noto Sans"/>
              <a:buNone/>
            </a:pPr>
            <a:r>
              <a:rPr b="0" i="0" lang="en-US" sz="1200" u="none" cap="none" strike="noStrike">
                <a:solidFill>
                  <a:srgbClr val="62788A"/>
                </a:solidFill>
                <a:latin typeface="Noto Sans"/>
                <a:ea typeface="Noto Sans"/>
                <a:cs typeface="Noto Sans"/>
                <a:sym typeface="Noto Sans"/>
              </a:rPr>
              <a:t>기술문서를 근거로 진단 경로 검증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8"/>
          <p:cNvSpPr/>
          <p:nvPr/>
        </p:nvSpPr>
        <p:spPr>
          <a:xfrm>
            <a:off x="10414001" y="6462286"/>
            <a:ext cx="3902074" cy="544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2788A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2788A"/>
                </a:solidFill>
                <a:latin typeface="Noto Sans"/>
                <a:ea typeface="Noto Sans"/>
                <a:cs typeface="Noto Sans"/>
                <a:sym typeface="Noto Sans"/>
              </a:rPr>
              <a:t>중요한 조치가 필요한 경우, 작업자가 확인하고 결정할 수 있도록 작업자 확인(HITL) 단계로 연결되는 경로를 검증</a:t>
            </a:r>
            <a:endParaRPr b="0" i="0" sz="1200" u="none" cap="none" strike="noStrike">
              <a:solidFill>
                <a:srgbClr val="62788A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614362" y="7086600"/>
            <a:ext cx="13916025" cy="723900"/>
          </a:xfrm>
          <a:prstGeom prst="roundRect">
            <a:avLst>
              <a:gd fmla="val 17684" name="adj"/>
            </a:avLst>
          </a:prstGeom>
          <a:solidFill>
            <a:srgbClr val="132E4A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876300" y="7300685"/>
            <a:ext cx="12839699" cy="310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C 경로의 ‘이어 실행’은 작업자가 승인·수정 요청·거절 중 하나를 선택하면, AI Agent의 진단 Workflow를 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처음부터 다시 시작하지 않고 그 결과를 반영해 저장된 중단 지점부터 이후 진단 절차를 이어서 실행하는 것을 의미합니다.</a:t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p8"/>
          <p:cNvSpPr/>
          <p:nvPr/>
        </p:nvSpPr>
        <p:spPr>
          <a:xfrm>
            <a:off x="13866525" y="7184165"/>
            <a:ext cx="512034" cy="512034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8" name="Google Shape;4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94534" y="7312173"/>
            <a:ext cx="256017" cy="256017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8"/>
          <p:cNvSpPr/>
          <p:nvPr/>
        </p:nvSpPr>
        <p:spPr>
          <a:xfrm>
            <a:off x="10267950" y="2980080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87521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이상 (Abnormal) 판정</a:t>
            </a:r>
            <a:endParaRPr b="1" i="0" sz="1600" u="none" cap="none" strike="noStrike">
              <a:solidFill>
                <a:srgbClr val="C875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10267950" y="3589391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87521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 기반 진단 (RAG) → 중요 조치</a:t>
            </a:r>
            <a:endParaRPr b="1" i="0" sz="1600" u="none" cap="none" strike="noStrike">
              <a:solidFill>
                <a:srgbClr val="C875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0267950" y="4209981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8752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작업자 확인 대기</a:t>
            </a:r>
            <a:endParaRPr b="1" i="0" sz="1600" u="none" cap="none" strike="noStrike">
              <a:solidFill>
                <a:srgbClr val="C875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2" name="Google Shape;412;p8"/>
          <p:cNvSpPr/>
          <p:nvPr/>
        </p:nvSpPr>
        <p:spPr>
          <a:xfrm>
            <a:off x="10267950" y="4841850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8752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중단 지점부터 이어서 실행</a:t>
            </a:r>
            <a:endParaRPr b="1" i="0" sz="1600" u="none" cap="none" strike="noStrike">
              <a:solidFill>
                <a:srgbClr val="C875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10267950" y="5485886"/>
            <a:ext cx="43243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8752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보고서 생성 · 진단 Workflow 완료</a:t>
            </a:r>
            <a:endParaRPr b="1" i="0" sz="1600" u="none" cap="none" strike="noStrike">
              <a:solidFill>
                <a:srgbClr val="C875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838200" y="2945355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58465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정상 (Normal) 판정</a:t>
            </a:r>
            <a:endParaRPr b="1" i="0" sz="1600" u="none" cap="none" strike="noStrike">
              <a:solidFill>
                <a:srgbClr val="25846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5" name="Google Shape;415;p8"/>
          <p:cNvSpPr/>
          <p:nvPr/>
        </p:nvSpPr>
        <p:spPr>
          <a:xfrm>
            <a:off x="838200" y="3565945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58465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· 후속 진단 생략</a:t>
            </a:r>
            <a:endParaRPr b="1" i="0" sz="1600" u="none" cap="none" strike="noStrike">
              <a:solidFill>
                <a:srgbClr val="25846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6" name="Google Shape;416;p8"/>
          <p:cNvSpPr/>
          <p:nvPr/>
        </p:nvSpPr>
        <p:spPr>
          <a:xfrm>
            <a:off x="838200" y="4186535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58465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 결과 보고서 생성</a:t>
            </a:r>
            <a:endParaRPr b="1" i="0" sz="1600" u="none" cap="none" strike="noStrike">
              <a:solidFill>
                <a:srgbClr val="258465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5553075" y="2957078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이상 (Abnormal) 판정</a:t>
            </a:r>
            <a:endParaRPr b="1" i="0" sz="16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5553075" y="3577668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기술 근거 확보</a:t>
            </a:r>
            <a:endParaRPr b="0" i="0" sz="16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9" name="Google Shape;419;p8"/>
          <p:cNvSpPr/>
          <p:nvPr/>
        </p:nvSpPr>
        <p:spPr>
          <a:xfrm>
            <a:off x="5553075" y="4221408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진단 · 근거 확인</a:t>
            </a:r>
            <a:endParaRPr b="0" i="0" sz="16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p8"/>
          <p:cNvSpPr/>
          <p:nvPr/>
        </p:nvSpPr>
        <p:spPr>
          <a:xfrm>
            <a:off x="5553075" y="4841998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점검 계획 · 조치 권고</a:t>
            </a:r>
            <a:endParaRPr b="0" i="0" sz="16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1" name="Google Shape;421;p8"/>
          <p:cNvSpPr/>
          <p:nvPr/>
        </p:nvSpPr>
        <p:spPr>
          <a:xfrm>
            <a:off x="5553075" y="5486034"/>
            <a:ext cx="40386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보고서 생성</a:t>
            </a:r>
            <a:endParaRPr b="1" i="0" sz="160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8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9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solidFill>
            <a:srgbClr val="00A6B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9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9"/>
          <p:cNvSpPr/>
          <p:nvPr/>
        </p:nvSpPr>
        <p:spPr>
          <a:xfrm>
            <a:off x="13715999" y="-1828800"/>
            <a:ext cx="3474720" cy="347472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12984480" y="-2560320"/>
            <a:ext cx="4937760" cy="493776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9"/>
          <p:cNvSpPr/>
          <p:nvPr/>
        </p:nvSpPr>
        <p:spPr>
          <a:xfrm>
            <a:off x="16812513" y="-1151956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17820724" y="273268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9"/>
          <p:cNvSpPr/>
          <p:nvPr/>
        </p:nvSpPr>
        <p:spPr>
          <a:xfrm>
            <a:off x="13884754" y="71323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9"/>
          <p:cNvSpPr/>
          <p:nvPr/>
        </p:nvSpPr>
        <p:spPr>
          <a:xfrm>
            <a:off x="13366963" y="-1571539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9"/>
          <p:cNvSpPr/>
          <p:nvPr/>
        </p:nvSpPr>
        <p:spPr>
          <a:xfrm>
            <a:off x="15564014" y="83511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9"/>
          <p:cNvSpPr/>
          <p:nvPr/>
        </p:nvSpPr>
        <p:spPr>
          <a:xfrm>
            <a:off x="630174" y="1235202"/>
            <a:ext cx="2078915" cy="310896"/>
          </a:xfrm>
          <a:prstGeom prst="roundRect">
            <a:avLst>
              <a:gd fmla="val 50000" name="adj"/>
            </a:avLst>
          </a:prstGeom>
          <a:solidFill>
            <a:srgbClr val="D3E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9"/>
          <p:cNvSpPr/>
          <p:nvPr/>
        </p:nvSpPr>
        <p:spPr>
          <a:xfrm>
            <a:off x="876300" y="401284"/>
            <a:ext cx="13716000" cy="728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 Workflow 설계에 그치지 않고, 측정 Data 입력부터 최종 보고서 생성까지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실제로 실행·검증했습니다.</a:t>
            </a:r>
            <a:endParaRPr b="1" i="0" sz="230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8" name="Google Shape;438;p9"/>
          <p:cNvSpPr/>
          <p:nvPr/>
        </p:nvSpPr>
        <p:spPr>
          <a:xfrm>
            <a:off x="985012" y="1257299"/>
            <a:ext cx="13074650" cy="385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검증 결과</a:t>
            </a:r>
            <a:endParaRPr b="1" i="0" sz="127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9" name="Google Shape;439;p9"/>
          <p:cNvSpPr/>
          <p:nvPr/>
        </p:nvSpPr>
        <p:spPr>
          <a:xfrm>
            <a:off x="609600" y="8010525"/>
            <a:ext cx="14020800" cy="9525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9"/>
          <p:cNvSpPr/>
          <p:nvPr/>
        </p:nvSpPr>
        <p:spPr>
          <a:xfrm>
            <a:off x="14097000" y="8086725"/>
            <a:ext cx="52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9"/>
          <p:cNvSpPr/>
          <p:nvPr/>
        </p:nvSpPr>
        <p:spPr>
          <a:xfrm>
            <a:off x="0" y="0"/>
            <a:ext cx="15240000" cy="72736"/>
          </a:xfrm>
          <a:prstGeom prst="rect">
            <a:avLst/>
          </a:prstGeom>
          <a:solidFill>
            <a:srgbClr val="0FB7C3"/>
          </a:solidFill>
          <a:ln cap="flat" cmpd="sng" w="12700">
            <a:solidFill>
              <a:srgbClr val="0FB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9"/>
          <p:cNvSpPr/>
          <p:nvPr/>
        </p:nvSpPr>
        <p:spPr>
          <a:xfrm>
            <a:off x="630174" y="1669064"/>
            <a:ext cx="8232471" cy="5303410"/>
          </a:xfrm>
          <a:prstGeom prst="roundRect">
            <a:avLst>
              <a:gd fmla="val 1674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622" y="1833656"/>
            <a:ext cx="7901178" cy="431447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9"/>
          <p:cNvSpPr/>
          <p:nvPr/>
        </p:nvSpPr>
        <p:spPr>
          <a:xfrm>
            <a:off x="858775" y="6288076"/>
            <a:ext cx="1846586" cy="322079"/>
          </a:xfrm>
          <a:prstGeom prst="roundRect">
            <a:avLst>
              <a:gd fmla="val 40000" name="adj"/>
            </a:avLst>
          </a:prstGeom>
          <a:solidFill>
            <a:srgbClr val="E8F8F7"/>
          </a:solidFill>
          <a:ln cap="flat" cmpd="sng" w="12700">
            <a:solidFill>
              <a:srgbClr val="E8F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9"/>
          <p:cNvSpPr/>
          <p:nvPr/>
        </p:nvSpPr>
        <p:spPr>
          <a:xfrm>
            <a:off x="858774" y="6320666"/>
            <a:ext cx="1846586" cy="26839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8C4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12B8C4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Agent Office 화면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6" name="Google Shape;446;p9"/>
          <p:cNvSpPr/>
          <p:nvPr/>
        </p:nvSpPr>
        <p:spPr>
          <a:xfrm>
            <a:off x="2933960" y="6155566"/>
            <a:ext cx="5412871" cy="733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 Data 선택 → AI 진단 시작 → 각 Agent가 어느 단계까지 처리 했는지와 진단에 사용된 기술문서 근거 수 확인</a:t>
            </a:r>
            <a:endParaRPr b="0" i="0" sz="1200" u="none" cap="none" strike="noStrike">
              <a:solidFill>
                <a:srgbClr val="6278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7" name="Google Shape;447;p9"/>
          <p:cNvSpPr/>
          <p:nvPr/>
        </p:nvSpPr>
        <p:spPr>
          <a:xfrm>
            <a:off x="614362" y="7086600"/>
            <a:ext cx="13916025" cy="723900"/>
          </a:xfrm>
          <a:prstGeom prst="roundRect">
            <a:avLst>
              <a:gd fmla="val 17684" name="adj"/>
            </a:avLst>
          </a:prstGeom>
          <a:solidFill>
            <a:srgbClr val="132E4A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9"/>
          <p:cNvSpPr/>
          <p:nvPr/>
        </p:nvSpPr>
        <p:spPr>
          <a:xfrm>
            <a:off x="13871448" y="7194202"/>
            <a:ext cx="512064" cy="512064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9" name="Google Shape;4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99463" y="732221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9"/>
          <p:cNvSpPr/>
          <p:nvPr/>
        </p:nvSpPr>
        <p:spPr>
          <a:xfrm>
            <a:off x="884874" y="7304633"/>
            <a:ext cx="12839699" cy="310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대상은 ML Model 하나만이 아니라, 측정 Data가 입력된 순간부터 최종 보고서가 만들어질 때까지의 </a:t>
            </a:r>
            <a:endParaRPr b="1" i="0" sz="2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Workflow입니다.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9"/>
          <p:cNvSpPr/>
          <p:nvPr/>
        </p:nvSpPr>
        <p:spPr>
          <a:xfrm>
            <a:off x="609600" y="533400"/>
            <a:ext cx="66675" cy="542925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9"/>
          <p:cNvSpPr/>
          <p:nvPr/>
        </p:nvSpPr>
        <p:spPr>
          <a:xfrm>
            <a:off x="9041638" y="1672669"/>
            <a:ext cx="2674292" cy="101954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9"/>
          <p:cNvSpPr/>
          <p:nvPr/>
        </p:nvSpPr>
        <p:spPr>
          <a:xfrm>
            <a:off x="9197023" y="1691918"/>
            <a:ext cx="2051664" cy="395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CD3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2D6CD3"/>
                </a:solidFill>
                <a:latin typeface="Malgun Gothic"/>
                <a:ea typeface="Malgun Gothic"/>
                <a:cs typeface="Malgun Gothic"/>
                <a:sym typeface="Malgun Gothic"/>
              </a:rPr>
              <a:t>162 / 162</a:t>
            </a:r>
            <a:endParaRPr b="0" i="0" sz="2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9"/>
          <p:cNvSpPr/>
          <p:nvPr/>
        </p:nvSpPr>
        <p:spPr>
          <a:xfrm>
            <a:off x="9231748" y="2122798"/>
            <a:ext cx="2051664" cy="274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Backend Test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5" name="Google Shape;455;p9"/>
          <p:cNvSpPr/>
          <p:nvPr/>
        </p:nvSpPr>
        <p:spPr>
          <a:xfrm>
            <a:off x="9231748" y="2360861"/>
            <a:ext cx="2051664" cy="197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최신 전체 테스트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6" name="Google Shape;456;p9"/>
          <p:cNvSpPr/>
          <p:nvPr/>
        </p:nvSpPr>
        <p:spPr>
          <a:xfrm>
            <a:off x="11821456" y="1672669"/>
            <a:ext cx="2674292" cy="101954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9"/>
          <p:cNvSpPr/>
          <p:nvPr/>
        </p:nvSpPr>
        <p:spPr>
          <a:xfrm>
            <a:off x="12011566" y="1690189"/>
            <a:ext cx="2051664" cy="395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9A6C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2F9A6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b="0" i="0" sz="2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8" name="Google Shape;458;p9"/>
          <p:cNvSpPr/>
          <p:nvPr/>
        </p:nvSpPr>
        <p:spPr>
          <a:xfrm>
            <a:off x="12034716" y="2122798"/>
            <a:ext cx="2051664" cy="274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TypeScript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9" name="Google Shape;459;p9"/>
          <p:cNvSpPr/>
          <p:nvPr/>
        </p:nvSpPr>
        <p:spPr>
          <a:xfrm>
            <a:off x="12034716" y="2360861"/>
            <a:ext cx="2051664" cy="197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Frontend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0" name="Google Shape;460;p9"/>
          <p:cNvSpPr/>
          <p:nvPr/>
        </p:nvSpPr>
        <p:spPr>
          <a:xfrm>
            <a:off x="9041638" y="2776100"/>
            <a:ext cx="2674292" cy="101954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9"/>
          <p:cNvSpPr/>
          <p:nvPr/>
        </p:nvSpPr>
        <p:spPr>
          <a:xfrm>
            <a:off x="9208598" y="2788282"/>
            <a:ext cx="2051664" cy="395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8C4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12B8C4"/>
                </a:solidFill>
                <a:latin typeface="Malgun Gothic"/>
                <a:ea typeface="Malgun Gothic"/>
                <a:cs typeface="Malgun Gothic"/>
                <a:sym typeface="Malgun Gothic"/>
              </a:rPr>
              <a:t>6 / 6</a:t>
            </a:r>
            <a:endParaRPr b="0" i="0" sz="2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2" name="Google Shape;462;p9"/>
          <p:cNvSpPr/>
          <p:nvPr/>
        </p:nvSpPr>
        <p:spPr>
          <a:xfrm>
            <a:off x="9231748" y="3226229"/>
            <a:ext cx="2051664" cy="274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 관리 Test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3" name="Google Shape;463;p9"/>
          <p:cNvSpPr/>
          <p:nvPr/>
        </p:nvSpPr>
        <p:spPr>
          <a:xfrm>
            <a:off x="9231748" y="3464292"/>
            <a:ext cx="2051664" cy="197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Reducer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4" name="Google Shape;464;p9"/>
          <p:cNvSpPr/>
          <p:nvPr/>
        </p:nvSpPr>
        <p:spPr>
          <a:xfrm>
            <a:off x="11821456" y="2776100"/>
            <a:ext cx="2674292" cy="101954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"/>
          <p:cNvSpPr/>
          <p:nvPr/>
        </p:nvSpPr>
        <p:spPr>
          <a:xfrm>
            <a:off x="12011566" y="2788282"/>
            <a:ext cx="2051664" cy="395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9A6C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2F9A6C"/>
                </a:solidFill>
                <a:latin typeface="Malgun Gothic"/>
                <a:ea typeface="Malgun Gothic"/>
                <a:cs typeface="Malgun Gothic"/>
                <a:sym typeface="Malgun Gothic"/>
              </a:rPr>
              <a:t>PASS</a:t>
            </a:r>
            <a:endParaRPr b="0" i="0" sz="2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6" name="Google Shape;466;p9"/>
          <p:cNvSpPr/>
          <p:nvPr/>
        </p:nvSpPr>
        <p:spPr>
          <a:xfrm>
            <a:off x="12034716" y="3226229"/>
            <a:ext cx="2051664" cy="274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Production Build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7" name="Google Shape;467;p9"/>
          <p:cNvSpPr/>
          <p:nvPr/>
        </p:nvSpPr>
        <p:spPr>
          <a:xfrm>
            <a:off x="12034716" y="3464292"/>
            <a:ext cx="2051664" cy="197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Frontend build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8" name="Google Shape;468;p9"/>
          <p:cNvSpPr/>
          <p:nvPr/>
        </p:nvSpPr>
        <p:spPr>
          <a:xfrm>
            <a:off x="9041638" y="3879747"/>
            <a:ext cx="2674292" cy="101954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9"/>
          <p:cNvSpPr/>
          <p:nvPr/>
        </p:nvSpPr>
        <p:spPr>
          <a:xfrm>
            <a:off x="9208598" y="3888651"/>
            <a:ext cx="2051664" cy="395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9A6C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2F9A6C"/>
                </a:solidFill>
                <a:latin typeface="Malgun Gothic"/>
                <a:ea typeface="Malgun Gothic"/>
                <a:cs typeface="Malgun Gothic"/>
                <a:sym typeface="Malgun Gothic"/>
              </a:rPr>
              <a:t>READY</a:t>
            </a:r>
            <a:endParaRPr b="0" i="0" sz="23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0" name="Google Shape;470;p9"/>
          <p:cNvSpPr/>
          <p:nvPr/>
        </p:nvSpPr>
        <p:spPr>
          <a:xfrm>
            <a:off x="9231748" y="4281360"/>
            <a:ext cx="2051664" cy="274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시스템 상태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1" name="Google Shape;471;p9"/>
          <p:cNvSpPr/>
          <p:nvPr/>
        </p:nvSpPr>
        <p:spPr>
          <a:xfrm>
            <a:off x="9231748" y="4519423"/>
            <a:ext cx="2051664" cy="197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Runtime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2" name="Google Shape;472;p9"/>
          <p:cNvSpPr/>
          <p:nvPr/>
        </p:nvSpPr>
        <p:spPr>
          <a:xfrm>
            <a:off x="11821456" y="3876763"/>
            <a:ext cx="2674292" cy="1019545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9"/>
          <p:cNvSpPr/>
          <p:nvPr/>
        </p:nvSpPr>
        <p:spPr>
          <a:xfrm>
            <a:off x="12007998" y="3876713"/>
            <a:ext cx="2051664" cy="3958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D6CD3"/>
                </a:solidFill>
                <a:latin typeface="Malgun Gothic"/>
                <a:ea typeface="Malgun Gothic"/>
                <a:cs typeface="Malgun Gothic"/>
                <a:sym typeface="Malgun Gothic"/>
              </a:rPr>
              <a:t>0.862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4" name="Google Shape;474;p9"/>
          <p:cNvSpPr/>
          <p:nvPr/>
        </p:nvSpPr>
        <p:spPr>
          <a:xfrm>
            <a:off x="9041637" y="4980409"/>
            <a:ext cx="5454111" cy="1608655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9"/>
          <p:cNvSpPr/>
          <p:nvPr/>
        </p:nvSpPr>
        <p:spPr>
          <a:xfrm>
            <a:off x="9342949" y="5201373"/>
            <a:ext cx="944629" cy="2309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CD3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2D6CD3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검증 범위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6" name="Google Shape;476;p9"/>
          <p:cNvSpPr/>
          <p:nvPr/>
        </p:nvSpPr>
        <p:spPr>
          <a:xfrm>
            <a:off x="10290145" y="4987415"/>
            <a:ext cx="4126585" cy="15999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050"/>
              <a:buFont typeface="Noto Sans Symbols"/>
              <a:buChar char="✔"/>
            </a:pPr>
            <a:r>
              <a:rPr b="0" i="0" lang="en-US" sz="105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정상·이상 판정에 따라 서로 다른 작업 수행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050"/>
              <a:buFont typeface="Noto Sans Symbols"/>
              <a:buChar char="✔"/>
            </a:pPr>
            <a:r>
              <a:rPr b="0" i="0" lang="en-US" sz="105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판정 시 기술문서 근거 연결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050"/>
              <a:buFont typeface="Noto Sans Symbols"/>
              <a:buChar char="✔"/>
            </a:pPr>
            <a:r>
              <a:rPr b="0" i="0" lang="en-US" sz="105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 조치 시 작업자에게 판단 요청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050"/>
              <a:buFont typeface="Noto Sans Symbols"/>
              <a:buChar char="✔"/>
            </a:pPr>
            <a:r>
              <a:rPr b="0" i="0" lang="en-US" sz="105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작업자의 선택을 반영해 멈춘 지점부터 이어서 실행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050"/>
              <a:buFont typeface="Noto Sans Symbols"/>
              <a:buChar char="✔"/>
            </a:pPr>
            <a:r>
              <a:rPr b="0" i="0" lang="en-US" sz="105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과거 진단 과정·최종 보고서 다시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050"/>
              <a:buFont typeface="Noto Sans Symbols"/>
              <a:buChar char="✔"/>
            </a:pPr>
            <a:r>
              <a:rPr b="0" i="0" lang="en-US" sz="105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Agent의 현재 작업 진행 상태를 화면에 실시간 표시</a:t>
            </a:r>
            <a:endParaRPr b="0" i="0" sz="10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7" name="Google Shape;477;p9"/>
          <p:cNvSpPr/>
          <p:nvPr/>
        </p:nvSpPr>
        <p:spPr>
          <a:xfrm>
            <a:off x="9041637" y="6669810"/>
            <a:ext cx="5454111" cy="302664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9"/>
          <p:cNvSpPr/>
          <p:nvPr/>
        </p:nvSpPr>
        <p:spPr>
          <a:xfrm>
            <a:off x="12003342" y="4217381"/>
            <a:ext cx="2624346" cy="336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MRR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9" name="Google Shape;479;p9"/>
          <p:cNvSpPr/>
          <p:nvPr/>
        </p:nvSpPr>
        <p:spPr>
          <a:xfrm>
            <a:off x="12011566" y="4553427"/>
            <a:ext cx="2382014" cy="306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Hit@5 0.913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9"/>
          <p:cNvSpPr/>
          <p:nvPr/>
        </p:nvSpPr>
        <p:spPr>
          <a:xfrm>
            <a:off x="12813773" y="4283842"/>
            <a:ext cx="2624346" cy="33604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근거가 검색 결과 상위에 나타나는</a:t>
            </a:r>
            <a:endParaRPr b="0" i="0" sz="800" u="none" cap="none" strike="noStrike">
              <a:solidFill>
                <a:srgbClr val="6278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정도이며, 1에 가까울 수록 높음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1" name="Google Shape;481;p9"/>
          <p:cNvSpPr/>
          <p:nvPr/>
        </p:nvSpPr>
        <p:spPr>
          <a:xfrm>
            <a:off x="12808456" y="4553427"/>
            <a:ext cx="2382014" cy="3064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800"/>
              <a:buFont typeface="Malgun Gothic"/>
              <a:buNone/>
            </a:pPr>
            <a:r>
              <a:rPr b="0" i="0" lang="en-US" sz="8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상위 5에 포함된 비율 91.3%</a:t>
            </a:r>
            <a:endParaRPr b="0" i="0" sz="1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2" name="Google Shape;482;p9"/>
          <p:cNvSpPr/>
          <p:nvPr/>
        </p:nvSpPr>
        <p:spPr>
          <a:xfrm>
            <a:off x="9131881" y="6645721"/>
            <a:ext cx="516425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*SSE: AI Agent의 작업 진행 상태를 화면에 전달하는 방식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8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0"/>
          <p:cNvSpPr/>
          <p:nvPr/>
        </p:nvSpPr>
        <p:spPr>
          <a:xfrm>
            <a:off x="614362" y="7086600"/>
            <a:ext cx="13916025" cy="723900"/>
          </a:xfrm>
          <a:prstGeom prst="roundRect">
            <a:avLst>
              <a:gd fmla="val 17684" name="adj"/>
            </a:avLst>
          </a:prstGeom>
          <a:solidFill>
            <a:srgbClr val="132E4A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solidFill>
            <a:srgbClr val="00A6B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0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13715999" y="-1828800"/>
            <a:ext cx="3474720" cy="347472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12984480" y="-2560320"/>
            <a:ext cx="4937760" cy="493776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16812513" y="-1151956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17820724" y="273268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13884754" y="71323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13366963" y="-1571539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15564014" y="83511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645729" y="1235202"/>
            <a:ext cx="2836474" cy="310896"/>
          </a:xfrm>
          <a:prstGeom prst="roundRect">
            <a:avLst>
              <a:gd fmla="val 50000" name="adj"/>
            </a:avLst>
          </a:prstGeom>
          <a:solidFill>
            <a:srgbClr val="D3E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609600" y="533400"/>
            <a:ext cx="66675" cy="542925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876300" y="533400"/>
            <a:ext cx="13716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AI는 이상 원인과 점검·조치 방향을 제안하고, 중요한 결정은 작업자가 합니다.</a:t>
            </a:r>
            <a:endParaRPr b="1" i="0" sz="240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870951" y="1257300"/>
            <a:ext cx="1333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EVIDENCE + HITL + SAFETY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609600" y="8010525"/>
            <a:ext cx="14020800" cy="9525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14097000" y="8086725"/>
            <a:ext cx="52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922019" y="7264644"/>
            <a:ext cx="13525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 자동으로 설비를 제어하지 않습니다. 중요한 결정은 작업자가 합니다.</a:t>
            </a:r>
            <a:endParaRPr b="1" i="0" sz="2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13882116" y="7180795"/>
            <a:ext cx="512064" cy="512064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6" name="Google Shape;5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0131" y="7308811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0"/>
          <p:cNvSpPr/>
          <p:nvPr/>
        </p:nvSpPr>
        <p:spPr>
          <a:xfrm>
            <a:off x="0" y="0"/>
            <a:ext cx="15240000" cy="72736"/>
          </a:xfrm>
          <a:prstGeom prst="rect">
            <a:avLst/>
          </a:prstGeom>
          <a:solidFill>
            <a:srgbClr val="0FB7C3"/>
          </a:solidFill>
          <a:ln cap="flat" cmpd="sng" w="12700">
            <a:solidFill>
              <a:srgbClr val="0FB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609600" y="1746123"/>
            <a:ext cx="4047985" cy="5032629"/>
          </a:xfrm>
          <a:prstGeom prst="roundRect">
            <a:avLst>
              <a:gd fmla="val 2162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856488" y="1934396"/>
            <a:ext cx="3391556" cy="306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D6CD3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 문서 근거(Evidence)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856488" y="2478816"/>
            <a:ext cx="2625715" cy="273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CD3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2D6CD3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검색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856488" y="2775410"/>
            <a:ext cx="437619" cy="273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B8C4"/>
              </a:buClr>
              <a:buSzPts val="2400"/>
              <a:buFont typeface="Malgun Gothic"/>
              <a:buNone/>
            </a:pPr>
            <a:r>
              <a:rPr b="1" i="0" lang="en-US" sz="2400" u="none" cap="none" strike="noStrike">
                <a:solidFill>
                  <a:srgbClr val="12B8C4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2" name="Google Shape;512;p10"/>
          <p:cNvSpPr/>
          <p:nvPr/>
        </p:nvSpPr>
        <p:spPr>
          <a:xfrm>
            <a:off x="856488" y="3178856"/>
            <a:ext cx="3063338" cy="711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문서명 · 페이지 · Section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Malgun Gothic"/>
              <a:buNone/>
            </a:pPr>
            <a:r>
              <a:rPr b="0" i="0" lang="en-US" sz="16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문서 조각(Chunk) · 검색 점수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896630" y="3727367"/>
            <a:ext cx="2953936" cy="306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6CD3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2D6CD3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  진단에 사용한 근거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4" name="Google Shape;514;p10"/>
          <p:cNvSpPr/>
          <p:nvPr/>
        </p:nvSpPr>
        <p:spPr>
          <a:xfrm>
            <a:off x="856489" y="4388740"/>
            <a:ext cx="3480874" cy="1072260"/>
          </a:xfrm>
          <a:prstGeom prst="roundRect">
            <a:avLst>
              <a:gd fmla="val 8889" name="adj"/>
            </a:avLst>
          </a:prstGeom>
          <a:solidFill>
            <a:srgbClr val="F7FAFC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993648" y="4105827"/>
            <a:ext cx="3254396" cy="15999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RAG 검색 점수 =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상황과 기술문서 내용의 관련 정도</a:t>
            </a:r>
            <a:endParaRPr b="0" i="0" sz="1400" u="none" cap="none" strike="noStrike">
              <a:solidFill>
                <a:srgbClr val="6278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※ 실제 고장 원인이 맞을 확률은 아님.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5231334" y="1746123"/>
            <a:ext cx="4069865" cy="5032629"/>
          </a:xfrm>
          <a:prstGeom prst="roundRect">
            <a:avLst>
              <a:gd fmla="val 2151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5533162" y="1976968"/>
            <a:ext cx="3822978" cy="221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7A1C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D37A1C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작업자 확인(HITL)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10"/>
          <p:cNvSpPr/>
          <p:nvPr/>
        </p:nvSpPr>
        <p:spPr>
          <a:xfrm>
            <a:off x="5560518" y="2477643"/>
            <a:ext cx="3260266" cy="579846"/>
          </a:xfrm>
          <a:prstGeom prst="roundRect">
            <a:avLst>
              <a:gd fmla="val 15094" name="adj"/>
            </a:avLst>
          </a:prstGeom>
          <a:solidFill>
            <a:srgbClr val="F8FBFC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0"/>
          <p:cNvSpPr/>
          <p:nvPr/>
        </p:nvSpPr>
        <p:spPr>
          <a:xfrm>
            <a:off x="5560518" y="2477643"/>
            <a:ext cx="3260266" cy="579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중요 조치 발생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0" name="Google Shape;520;p10"/>
          <p:cNvSpPr/>
          <p:nvPr/>
        </p:nvSpPr>
        <p:spPr>
          <a:xfrm>
            <a:off x="6863714" y="3036624"/>
            <a:ext cx="547024" cy="22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7A1C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7A1C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1" name="Google Shape;521;p10"/>
          <p:cNvSpPr/>
          <p:nvPr/>
        </p:nvSpPr>
        <p:spPr>
          <a:xfrm>
            <a:off x="5560518" y="3267655"/>
            <a:ext cx="3260266" cy="579846"/>
          </a:xfrm>
          <a:prstGeom prst="roundRect">
            <a:avLst>
              <a:gd fmla="val 15094" name="adj"/>
            </a:avLst>
          </a:prstGeom>
          <a:solidFill>
            <a:srgbClr val="FFF2E3"/>
          </a:solidFill>
          <a:ln cap="flat" cmpd="sng" w="12700">
            <a:solidFill>
              <a:srgbClr val="F0C6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0"/>
          <p:cNvSpPr/>
          <p:nvPr/>
        </p:nvSpPr>
        <p:spPr>
          <a:xfrm>
            <a:off x="5560518" y="3267655"/>
            <a:ext cx="3260266" cy="579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작업자 확인 대기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3" name="Google Shape;523;p10"/>
          <p:cNvSpPr/>
          <p:nvPr/>
        </p:nvSpPr>
        <p:spPr>
          <a:xfrm>
            <a:off x="6863714" y="3815061"/>
            <a:ext cx="547024" cy="22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7A1C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7A1C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4" name="Google Shape;524;p10"/>
          <p:cNvSpPr/>
          <p:nvPr/>
        </p:nvSpPr>
        <p:spPr>
          <a:xfrm>
            <a:off x="5560518" y="4057667"/>
            <a:ext cx="3260266" cy="579846"/>
          </a:xfrm>
          <a:prstGeom prst="roundRect">
            <a:avLst>
              <a:gd fmla="val 15094" name="adj"/>
            </a:avLst>
          </a:prstGeom>
          <a:solidFill>
            <a:srgbClr val="F8FBFC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0"/>
          <p:cNvSpPr/>
          <p:nvPr/>
        </p:nvSpPr>
        <p:spPr>
          <a:xfrm>
            <a:off x="5560518" y="4057667"/>
            <a:ext cx="3260266" cy="579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승인 · 수정 요청 · 거절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6" name="Google Shape;526;p10"/>
          <p:cNvSpPr/>
          <p:nvPr/>
        </p:nvSpPr>
        <p:spPr>
          <a:xfrm>
            <a:off x="6863714" y="4605073"/>
            <a:ext cx="547024" cy="229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37A1C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D37A1C"/>
                </a:solidFill>
                <a:latin typeface="Malgun Gothic"/>
                <a:ea typeface="Malgun Gothic"/>
                <a:cs typeface="Malgun Gothic"/>
                <a:sym typeface="Malgun Gothic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7" name="Google Shape;527;p10"/>
          <p:cNvSpPr/>
          <p:nvPr/>
        </p:nvSpPr>
        <p:spPr>
          <a:xfrm>
            <a:off x="5572093" y="4847679"/>
            <a:ext cx="3260266" cy="579846"/>
          </a:xfrm>
          <a:prstGeom prst="roundRect">
            <a:avLst>
              <a:gd fmla="val 15094" name="adj"/>
            </a:avLst>
          </a:prstGeom>
          <a:solidFill>
            <a:srgbClr val="F8FBFC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0"/>
          <p:cNvSpPr/>
          <p:nvPr/>
        </p:nvSpPr>
        <p:spPr>
          <a:xfrm>
            <a:off x="5572093" y="4847679"/>
            <a:ext cx="3260266" cy="579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중단 지점부터 이어 실행</a:t>
            </a:r>
            <a:endParaRPr b="0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p10"/>
          <p:cNvSpPr/>
          <p:nvPr/>
        </p:nvSpPr>
        <p:spPr>
          <a:xfrm>
            <a:off x="5427538" y="6202906"/>
            <a:ext cx="3740681" cy="5080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4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Checkpoint = AI Workflow가 멈춘 위치를 기억(저장)하는 지점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0" name="Google Shape;530;p10"/>
          <p:cNvSpPr/>
          <p:nvPr/>
        </p:nvSpPr>
        <p:spPr>
          <a:xfrm>
            <a:off x="9852605" y="1746123"/>
            <a:ext cx="4649711" cy="5079545"/>
          </a:xfrm>
          <a:prstGeom prst="roundRect">
            <a:avLst>
              <a:gd fmla="val 1882" name="adj"/>
            </a:avLst>
          </a:prstGeom>
          <a:solidFill>
            <a:srgbClr val="FFFFFF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  <a:effectLst>
            <a:outerShdw blurRad="15240" rotWithShape="0" algn="bl" dir="2700000" dist="50800">
              <a:srgbClr val="B8C6D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0"/>
          <p:cNvSpPr/>
          <p:nvPr/>
        </p:nvSpPr>
        <p:spPr>
          <a:xfrm>
            <a:off x="10083581" y="1934396"/>
            <a:ext cx="2735126" cy="306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44"/>
              </a:buClr>
              <a:buSzPts val="2000"/>
              <a:buFont typeface="Malgun Gothic"/>
              <a:buNone/>
            </a:pPr>
            <a:r>
              <a:rPr b="1" i="0" lang="en-US" sz="2000" u="none" cap="none" strike="noStrike">
                <a:solidFill>
                  <a:srgbClr val="C55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안전(Safety) 통제</a:t>
            </a:r>
            <a:endParaRPr b="0" i="0" sz="20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2" name="Google Shape;532;p10"/>
          <p:cNvSpPr/>
          <p:nvPr/>
        </p:nvSpPr>
        <p:spPr>
          <a:xfrm>
            <a:off x="10083582" y="2565595"/>
            <a:ext cx="601727" cy="328215"/>
          </a:xfrm>
          <a:prstGeom prst="roundRect">
            <a:avLst>
              <a:gd fmla="val 40000" name="adj"/>
            </a:avLst>
          </a:prstGeom>
          <a:solidFill>
            <a:srgbClr val="FBEAE6"/>
          </a:solidFill>
          <a:ln cap="flat" cmpd="sng" w="12700">
            <a:solidFill>
              <a:srgbClr val="FBEA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0"/>
          <p:cNvSpPr/>
          <p:nvPr/>
        </p:nvSpPr>
        <p:spPr>
          <a:xfrm>
            <a:off x="10083582" y="2605220"/>
            <a:ext cx="601727" cy="273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44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C55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NO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4" name="Google Shape;534;p10"/>
          <p:cNvSpPr/>
          <p:nvPr/>
        </p:nvSpPr>
        <p:spPr>
          <a:xfrm>
            <a:off x="10868070" y="2574739"/>
            <a:ext cx="2789827" cy="2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PLC 직접 제어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5" name="Google Shape;535;p10"/>
          <p:cNvSpPr/>
          <p:nvPr/>
        </p:nvSpPr>
        <p:spPr>
          <a:xfrm>
            <a:off x="10083582" y="3846263"/>
            <a:ext cx="601727" cy="328215"/>
          </a:xfrm>
          <a:prstGeom prst="roundRect">
            <a:avLst>
              <a:gd fmla="val 40000" name="adj"/>
            </a:avLst>
          </a:prstGeom>
          <a:solidFill>
            <a:srgbClr val="FBEAE6"/>
          </a:solidFill>
          <a:ln cap="flat" cmpd="sng" w="12700">
            <a:solidFill>
              <a:srgbClr val="FBEA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0"/>
          <p:cNvSpPr/>
          <p:nvPr/>
        </p:nvSpPr>
        <p:spPr>
          <a:xfrm>
            <a:off x="10083582" y="3901128"/>
            <a:ext cx="601727" cy="273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44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C55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NO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7" name="Google Shape;537;p10"/>
          <p:cNvSpPr/>
          <p:nvPr/>
        </p:nvSpPr>
        <p:spPr>
          <a:xfrm>
            <a:off x="10868070" y="3855407"/>
            <a:ext cx="2789827" cy="2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설비 자동 정지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8" name="Google Shape;538;p10"/>
          <p:cNvSpPr/>
          <p:nvPr/>
        </p:nvSpPr>
        <p:spPr>
          <a:xfrm>
            <a:off x="10083582" y="4504631"/>
            <a:ext cx="601727" cy="328215"/>
          </a:xfrm>
          <a:prstGeom prst="roundRect">
            <a:avLst>
              <a:gd fmla="val 40000" name="adj"/>
            </a:avLst>
          </a:prstGeom>
          <a:solidFill>
            <a:srgbClr val="FBEAE6"/>
          </a:solidFill>
          <a:ln cap="flat" cmpd="sng" w="12700">
            <a:solidFill>
              <a:srgbClr val="FBEA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0"/>
          <p:cNvSpPr/>
          <p:nvPr/>
        </p:nvSpPr>
        <p:spPr>
          <a:xfrm>
            <a:off x="10083582" y="4559496"/>
            <a:ext cx="601727" cy="273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44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C55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NO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0" name="Google Shape;540;p10"/>
          <p:cNvSpPr/>
          <p:nvPr/>
        </p:nvSpPr>
        <p:spPr>
          <a:xfrm>
            <a:off x="10868070" y="4513775"/>
            <a:ext cx="2789827" cy="2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안전 Interlock 우회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1" name="Google Shape;541;p10"/>
          <p:cNvSpPr/>
          <p:nvPr/>
        </p:nvSpPr>
        <p:spPr>
          <a:xfrm>
            <a:off x="10083582" y="5162999"/>
            <a:ext cx="601727" cy="328215"/>
          </a:xfrm>
          <a:prstGeom prst="roundRect">
            <a:avLst>
              <a:gd fmla="val 40000" name="adj"/>
            </a:avLst>
          </a:prstGeom>
          <a:solidFill>
            <a:srgbClr val="FBEAE6"/>
          </a:solidFill>
          <a:ln cap="flat" cmpd="sng" w="12700">
            <a:solidFill>
              <a:srgbClr val="FBEA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0"/>
          <p:cNvSpPr/>
          <p:nvPr/>
        </p:nvSpPr>
        <p:spPr>
          <a:xfrm>
            <a:off x="10083582" y="5202624"/>
            <a:ext cx="601727" cy="273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44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C55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NO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3" name="Google Shape;543;p10"/>
          <p:cNvSpPr/>
          <p:nvPr/>
        </p:nvSpPr>
        <p:spPr>
          <a:xfrm>
            <a:off x="10868070" y="5172143"/>
            <a:ext cx="2789827" cy="2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 정비 실행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4" name="Google Shape;544;p10"/>
          <p:cNvSpPr/>
          <p:nvPr/>
        </p:nvSpPr>
        <p:spPr>
          <a:xfrm>
            <a:off x="10057953" y="6206194"/>
            <a:ext cx="4178705" cy="5689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4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Agent는 작업자가 판단하는 데 필요한 </a:t>
            </a:r>
            <a:endParaRPr b="0" i="0" sz="1400" u="none" cap="none" strike="noStrike">
              <a:solidFill>
                <a:srgbClr val="62788A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2788A"/>
              </a:buClr>
              <a:buSzPts val="1400"/>
              <a:buFont typeface="Noto Sans Symbols"/>
              <a:buChar char="✔"/>
            </a:pPr>
            <a:r>
              <a:rPr b="0" i="0" lang="en-US" sz="14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근거와 정보를 제공합니다.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5" name="Google Shape;545;p10"/>
          <p:cNvSpPr/>
          <p:nvPr/>
        </p:nvSpPr>
        <p:spPr>
          <a:xfrm>
            <a:off x="10083582" y="3199579"/>
            <a:ext cx="601727" cy="328215"/>
          </a:xfrm>
          <a:prstGeom prst="roundRect">
            <a:avLst>
              <a:gd fmla="val 40000" name="adj"/>
            </a:avLst>
          </a:prstGeom>
          <a:solidFill>
            <a:srgbClr val="FBEAE6"/>
          </a:solidFill>
          <a:ln cap="flat" cmpd="sng" w="12700">
            <a:solidFill>
              <a:srgbClr val="FBEA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0"/>
          <p:cNvSpPr/>
          <p:nvPr/>
        </p:nvSpPr>
        <p:spPr>
          <a:xfrm>
            <a:off x="10083582" y="3254444"/>
            <a:ext cx="601727" cy="273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44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C55A44"/>
                </a:solidFill>
                <a:latin typeface="Malgun Gothic"/>
                <a:ea typeface="Malgun Gothic"/>
                <a:cs typeface="Malgun Gothic"/>
                <a:sym typeface="Malgun Gothic"/>
              </a:rPr>
              <a:t>NO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7" name="Google Shape;547;p10"/>
          <p:cNvSpPr/>
          <p:nvPr/>
        </p:nvSpPr>
        <p:spPr>
          <a:xfrm>
            <a:off x="10868070" y="3208723"/>
            <a:ext cx="2789827" cy="28445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364D"/>
              </a:buClr>
              <a:buSzPts val="1600"/>
              <a:buFont typeface="Malgun Gothic"/>
              <a:buNone/>
            </a:pPr>
            <a:r>
              <a:rPr b="1" i="0" lang="en-US" sz="1600" u="none" cap="none" strike="noStrike">
                <a:solidFill>
                  <a:srgbClr val="18364D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 발생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8" name="Google Shape;548;p10"/>
          <p:cNvSpPr/>
          <p:nvPr/>
        </p:nvSpPr>
        <p:spPr>
          <a:xfrm>
            <a:off x="10083581" y="5610684"/>
            <a:ext cx="4178705" cy="273512"/>
          </a:xfrm>
          <a:prstGeom prst="roundRect">
            <a:avLst>
              <a:gd fmla="val 8889" name="adj"/>
            </a:avLst>
          </a:prstGeom>
          <a:solidFill>
            <a:srgbClr val="F7FAFC"/>
          </a:solidFill>
          <a:ln cap="flat" cmpd="sng" w="12700">
            <a:solidFill>
              <a:srgbClr val="D7E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62788A"/>
                </a:solidFill>
                <a:latin typeface="Malgun Gothic"/>
                <a:ea typeface="Malgun Gothic"/>
                <a:cs typeface="Malgun Gothic"/>
                <a:sym typeface="Malgun Gothic"/>
              </a:rPr>
              <a:t>*Interlock: 위험 상태에서 설비를 보호하는 안전 연동 장치 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8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1"/>
          <p:cNvSpPr/>
          <p:nvPr/>
        </p:nvSpPr>
        <p:spPr>
          <a:xfrm>
            <a:off x="614362" y="7086600"/>
            <a:ext cx="13916025" cy="723900"/>
          </a:xfrm>
          <a:prstGeom prst="roundRect">
            <a:avLst>
              <a:gd fmla="val 17684" name="adj"/>
            </a:avLst>
          </a:prstGeom>
          <a:solidFill>
            <a:srgbClr val="132E4A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1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solidFill>
            <a:srgbClr val="00A6B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1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1"/>
          <p:cNvSpPr/>
          <p:nvPr/>
        </p:nvSpPr>
        <p:spPr>
          <a:xfrm>
            <a:off x="13715999" y="-1828800"/>
            <a:ext cx="3474720" cy="347472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1"/>
          <p:cNvSpPr/>
          <p:nvPr/>
        </p:nvSpPr>
        <p:spPr>
          <a:xfrm>
            <a:off x="12984480" y="-2560320"/>
            <a:ext cx="4937760" cy="493776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1"/>
          <p:cNvSpPr/>
          <p:nvPr/>
        </p:nvSpPr>
        <p:spPr>
          <a:xfrm>
            <a:off x="16812513" y="-1151956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1"/>
          <p:cNvSpPr/>
          <p:nvPr/>
        </p:nvSpPr>
        <p:spPr>
          <a:xfrm>
            <a:off x="17820724" y="273268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1"/>
          <p:cNvSpPr/>
          <p:nvPr/>
        </p:nvSpPr>
        <p:spPr>
          <a:xfrm>
            <a:off x="13884754" y="71323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1"/>
          <p:cNvSpPr/>
          <p:nvPr/>
        </p:nvSpPr>
        <p:spPr>
          <a:xfrm>
            <a:off x="13366963" y="-1571539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1"/>
          <p:cNvSpPr/>
          <p:nvPr/>
        </p:nvSpPr>
        <p:spPr>
          <a:xfrm>
            <a:off x="15564014" y="83511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1"/>
          <p:cNvSpPr/>
          <p:nvPr/>
        </p:nvSpPr>
        <p:spPr>
          <a:xfrm>
            <a:off x="619207" y="1235202"/>
            <a:ext cx="1789257" cy="281057"/>
          </a:xfrm>
          <a:prstGeom prst="roundRect">
            <a:avLst>
              <a:gd fmla="val 50000" name="adj"/>
            </a:avLst>
          </a:prstGeom>
          <a:solidFill>
            <a:srgbClr val="D3E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1"/>
          <p:cNvSpPr/>
          <p:nvPr/>
        </p:nvSpPr>
        <p:spPr>
          <a:xfrm>
            <a:off x="619207" y="1626870"/>
            <a:ext cx="13896893" cy="4299585"/>
          </a:xfrm>
          <a:prstGeom prst="roundRect">
            <a:avLst>
              <a:gd fmla="val 3508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1"/>
          <p:cNvSpPr/>
          <p:nvPr/>
        </p:nvSpPr>
        <p:spPr>
          <a:xfrm>
            <a:off x="723898" y="1737360"/>
            <a:ext cx="5880990" cy="457200"/>
          </a:xfrm>
          <a:prstGeom prst="roundRect">
            <a:avLst>
              <a:gd fmla="val 28000" name="adj"/>
            </a:avLst>
          </a:prstGeom>
          <a:solidFill>
            <a:srgbClr val="E3E9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1"/>
          <p:cNvSpPr/>
          <p:nvPr/>
        </p:nvSpPr>
        <p:spPr>
          <a:xfrm>
            <a:off x="6737476" y="1737360"/>
            <a:ext cx="7646036" cy="457200"/>
          </a:xfrm>
          <a:prstGeom prst="roundRect">
            <a:avLst>
              <a:gd fmla="val 28000" name="adj"/>
            </a:avLst>
          </a:prstGeom>
          <a:solidFill>
            <a:srgbClr val="132E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1"/>
          <p:cNvSpPr/>
          <p:nvPr/>
        </p:nvSpPr>
        <p:spPr>
          <a:xfrm>
            <a:off x="609600" y="6126480"/>
            <a:ext cx="13906500" cy="749808"/>
          </a:xfrm>
          <a:prstGeom prst="roundRect">
            <a:avLst>
              <a:gd fmla="val 17073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1"/>
          <p:cNvSpPr/>
          <p:nvPr/>
        </p:nvSpPr>
        <p:spPr>
          <a:xfrm>
            <a:off x="609600" y="533400"/>
            <a:ext cx="66675" cy="542925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1"/>
          <p:cNvSpPr/>
          <p:nvPr/>
        </p:nvSpPr>
        <p:spPr>
          <a:xfrm>
            <a:off x="876300" y="495300"/>
            <a:ext cx="13716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단순 상태 판별 AI에서, 설비 진단 AI Agent로.</a:t>
            </a:r>
            <a:endParaRPr b="1" i="0" sz="3075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1" name="Google Shape;571;p11"/>
          <p:cNvSpPr/>
          <p:nvPr/>
        </p:nvSpPr>
        <p:spPr>
          <a:xfrm>
            <a:off x="729084" y="1234002"/>
            <a:ext cx="1922609" cy="2589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차별점 / 활용 가치</a:t>
            </a:r>
            <a:endParaRPr b="1" i="0" sz="127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2" name="Google Shape;572;p11"/>
          <p:cNvSpPr/>
          <p:nvPr/>
        </p:nvSpPr>
        <p:spPr>
          <a:xfrm>
            <a:off x="609600" y="8010525"/>
            <a:ext cx="14020800" cy="9525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1"/>
          <p:cNvSpPr/>
          <p:nvPr/>
        </p:nvSpPr>
        <p:spPr>
          <a:xfrm>
            <a:off x="14097000" y="8086725"/>
            <a:ext cx="52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1"/>
          <p:cNvSpPr/>
          <p:nvPr/>
        </p:nvSpPr>
        <p:spPr>
          <a:xfrm>
            <a:off x="852008" y="1809750"/>
            <a:ext cx="59531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방식</a:t>
            </a:r>
            <a:endParaRPr b="1" i="0" sz="1725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5" name="Google Shape;575;p11"/>
          <p:cNvSpPr/>
          <p:nvPr/>
        </p:nvSpPr>
        <p:spPr>
          <a:xfrm>
            <a:off x="6954422" y="1809750"/>
            <a:ext cx="7239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Smart Factory Agent Office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1"/>
          <p:cNvSpPr/>
          <p:nvPr/>
        </p:nvSpPr>
        <p:spPr>
          <a:xfrm>
            <a:off x="723899" y="2381250"/>
            <a:ext cx="13601702" cy="4953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1"/>
          <p:cNvSpPr/>
          <p:nvPr/>
        </p:nvSpPr>
        <p:spPr>
          <a:xfrm>
            <a:off x="6737476" y="2381250"/>
            <a:ext cx="7626096" cy="495299"/>
          </a:xfrm>
          <a:prstGeom prst="rect">
            <a:avLst/>
          </a:prstGeom>
          <a:solidFill>
            <a:srgbClr val="E2F5F8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1"/>
          <p:cNvSpPr/>
          <p:nvPr/>
        </p:nvSpPr>
        <p:spPr>
          <a:xfrm>
            <a:off x="852008" y="2428875"/>
            <a:ext cx="5476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결과를 개별 확인</a:t>
            </a:r>
            <a:endParaRPr b="0" i="0" sz="195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9" name="Google Shape;579;p11"/>
          <p:cNvSpPr/>
          <p:nvPr/>
        </p:nvSpPr>
        <p:spPr>
          <a:xfrm>
            <a:off x="6191122" y="24193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A6B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1"/>
          <p:cNvSpPr/>
          <p:nvPr/>
        </p:nvSpPr>
        <p:spPr>
          <a:xfrm>
            <a:off x="6967122" y="2447290"/>
            <a:ext cx="7219950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ML의 정상·이상 판정에 따라 필요한 진단 작업을 자동으로 선택</a:t>
            </a:r>
            <a:endParaRPr b="1" i="0" sz="170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1" name="Google Shape;581;p11"/>
          <p:cNvSpPr/>
          <p:nvPr/>
        </p:nvSpPr>
        <p:spPr>
          <a:xfrm>
            <a:off x="723899" y="2971800"/>
            <a:ext cx="13601702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1"/>
          <p:cNvSpPr/>
          <p:nvPr/>
        </p:nvSpPr>
        <p:spPr>
          <a:xfrm>
            <a:off x="6737476" y="2971800"/>
            <a:ext cx="7626096" cy="495299"/>
          </a:xfrm>
          <a:prstGeom prst="rect">
            <a:avLst/>
          </a:prstGeom>
          <a:solidFill>
            <a:srgbClr val="E2F5F8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1"/>
          <p:cNvSpPr/>
          <p:nvPr/>
        </p:nvSpPr>
        <p:spPr>
          <a:xfrm>
            <a:off x="852008" y="3019425"/>
            <a:ext cx="5476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기술자료를 직접 검색</a:t>
            </a:r>
            <a:endParaRPr b="0" i="0" sz="195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4" name="Google Shape;584;p11"/>
          <p:cNvSpPr/>
          <p:nvPr/>
        </p:nvSpPr>
        <p:spPr>
          <a:xfrm>
            <a:off x="6191122" y="30099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A6B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1"/>
          <p:cNvSpPr/>
          <p:nvPr/>
        </p:nvSpPr>
        <p:spPr>
          <a:xfrm>
            <a:off x="6954422" y="3019425"/>
            <a:ext cx="72199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이상으로 판정되면 RAG로 관련 기술문서를 검색</a:t>
            </a:r>
            <a:endParaRPr b="1" i="0" sz="195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6" name="Google Shape;586;p11"/>
          <p:cNvSpPr/>
          <p:nvPr/>
        </p:nvSpPr>
        <p:spPr>
          <a:xfrm>
            <a:off x="723899" y="3562350"/>
            <a:ext cx="13601702" cy="4953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11"/>
          <p:cNvSpPr/>
          <p:nvPr/>
        </p:nvSpPr>
        <p:spPr>
          <a:xfrm>
            <a:off x="6737476" y="3562350"/>
            <a:ext cx="7626096" cy="495299"/>
          </a:xfrm>
          <a:prstGeom prst="rect">
            <a:avLst/>
          </a:prstGeom>
          <a:solidFill>
            <a:srgbClr val="E2F5F8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1"/>
          <p:cNvSpPr/>
          <p:nvPr/>
        </p:nvSpPr>
        <p:spPr>
          <a:xfrm>
            <a:off x="852008" y="3609975"/>
            <a:ext cx="5476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담당자 경험에 따라 이상 원인을 판단</a:t>
            </a:r>
            <a:endParaRPr b="0" i="0" sz="195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9" name="Google Shape;589;p11"/>
          <p:cNvSpPr/>
          <p:nvPr/>
        </p:nvSpPr>
        <p:spPr>
          <a:xfrm>
            <a:off x="6191122" y="36004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A6B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1"/>
          <p:cNvSpPr/>
          <p:nvPr/>
        </p:nvSpPr>
        <p:spPr>
          <a:xfrm>
            <a:off x="6954422" y="3609975"/>
            <a:ext cx="72199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기술문서를 근거로 이상 원인을 진단</a:t>
            </a:r>
            <a:endParaRPr b="1" i="0" sz="195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1" name="Google Shape;591;p11"/>
          <p:cNvSpPr/>
          <p:nvPr/>
        </p:nvSpPr>
        <p:spPr>
          <a:xfrm>
            <a:off x="723899" y="4152900"/>
            <a:ext cx="13601702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1"/>
          <p:cNvSpPr/>
          <p:nvPr/>
        </p:nvSpPr>
        <p:spPr>
          <a:xfrm>
            <a:off x="6737476" y="4152900"/>
            <a:ext cx="7626096" cy="495299"/>
          </a:xfrm>
          <a:prstGeom prst="rect">
            <a:avLst/>
          </a:prstGeom>
          <a:solidFill>
            <a:srgbClr val="E2F5F8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1"/>
          <p:cNvSpPr/>
          <p:nvPr/>
        </p:nvSpPr>
        <p:spPr>
          <a:xfrm>
            <a:off x="852008" y="4200525"/>
            <a:ext cx="5476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점검 계획을 별도로 작성</a:t>
            </a:r>
            <a:endParaRPr b="0" i="0" sz="195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4" name="Google Shape;594;p11"/>
          <p:cNvSpPr/>
          <p:nvPr/>
        </p:nvSpPr>
        <p:spPr>
          <a:xfrm>
            <a:off x="6191122" y="41910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A6B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1"/>
          <p:cNvSpPr/>
          <p:nvPr/>
        </p:nvSpPr>
        <p:spPr>
          <a:xfrm>
            <a:off x="6954422" y="4200525"/>
            <a:ext cx="72199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점검 계획을 제안</a:t>
            </a:r>
            <a:endParaRPr b="1" i="0" sz="195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6" name="Google Shape;596;p11"/>
          <p:cNvSpPr/>
          <p:nvPr/>
        </p:nvSpPr>
        <p:spPr>
          <a:xfrm>
            <a:off x="723899" y="4743450"/>
            <a:ext cx="13601702" cy="4953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1"/>
          <p:cNvSpPr/>
          <p:nvPr/>
        </p:nvSpPr>
        <p:spPr>
          <a:xfrm>
            <a:off x="6737476" y="4743450"/>
            <a:ext cx="7626096" cy="495299"/>
          </a:xfrm>
          <a:prstGeom prst="rect">
            <a:avLst/>
          </a:prstGeom>
          <a:solidFill>
            <a:srgbClr val="E2F5F8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1"/>
          <p:cNvSpPr/>
          <p:nvPr/>
        </p:nvSpPr>
        <p:spPr>
          <a:xfrm>
            <a:off x="852008" y="4791075"/>
            <a:ext cx="5476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담당자가 조치 방법을 별도로 판단</a:t>
            </a:r>
            <a:endParaRPr b="0" i="0" sz="195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9" name="Google Shape;599;p11"/>
          <p:cNvSpPr/>
          <p:nvPr/>
        </p:nvSpPr>
        <p:spPr>
          <a:xfrm>
            <a:off x="6191122" y="478155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A6B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1"/>
          <p:cNvSpPr/>
          <p:nvPr/>
        </p:nvSpPr>
        <p:spPr>
          <a:xfrm>
            <a:off x="6954422" y="4791075"/>
            <a:ext cx="72199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 조치 방법을 제안 → 중요한 결정은 작업자가 함</a:t>
            </a:r>
            <a:endParaRPr b="1" i="0" sz="195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1" name="Google Shape;601;p11"/>
          <p:cNvSpPr/>
          <p:nvPr/>
        </p:nvSpPr>
        <p:spPr>
          <a:xfrm>
            <a:off x="723899" y="5334000"/>
            <a:ext cx="13601702" cy="49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1"/>
          <p:cNvSpPr/>
          <p:nvPr/>
        </p:nvSpPr>
        <p:spPr>
          <a:xfrm>
            <a:off x="6737476" y="5334000"/>
            <a:ext cx="7626096" cy="495299"/>
          </a:xfrm>
          <a:prstGeom prst="rect">
            <a:avLst/>
          </a:prstGeom>
          <a:solidFill>
            <a:srgbClr val="E2F5F8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1"/>
          <p:cNvSpPr/>
          <p:nvPr/>
        </p:nvSpPr>
        <p:spPr>
          <a:xfrm>
            <a:off x="852008" y="5381625"/>
            <a:ext cx="547687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결과만 개별 관리</a:t>
            </a:r>
            <a:endParaRPr b="0" i="0" sz="195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4" name="Google Shape;604;p11"/>
          <p:cNvSpPr/>
          <p:nvPr/>
        </p:nvSpPr>
        <p:spPr>
          <a:xfrm>
            <a:off x="6191122" y="5372100"/>
            <a:ext cx="571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A6BF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1"/>
          <p:cNvSpPr/>
          <p:nvPr/>
        </p:nvSpPr>
        <p:spPr>
          <a:xfrm>
            <a:off x="6954422" y="5381625"/>
            <a:ext cx="72199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진단 · 근거 · 처리 기록 · 보고서를 저장하고 다시 확인</a:t>
            </a:r>
            <a:endParaRPr b="1" i="0" sz="195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6" name="Google Shape;606;p11"/>
          <p:cNvSpPr/>
          <p:nvPr/>
        </p:nvSpPr>
        <p:spPr>
          <a:xfrm>
            <a:off x="800100" y="6323134"/>
            <a:ext cx="137160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b="1" i="0" lang="en-US" sz="21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상태 판별 → 근거 검색 ·검증 → 점검 · 조치 제안 → 작업자 확인 → 이력 추적</a:t>
            </a:r>
            <a:endParaRPr b="1" i="0" sz="217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7" name="Google Shape;607;p11"/>
          <p:cNvSpPr/>
          <p:nvPr/>
        </p:nvSpPr>
        <p:spPr>
          <a:xfrm>
            <a:off x="887184" y="7264644"/>
            <a:ext cx="135255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1" i="0" lang="en-US" sz="18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방향: 작업자는 Bearing 상태와 진단 근거를 한 곳에서 확인하고, 이를 다음 점검·정비 판단에 활용할 수 있습니다.</a:t>
            </a:r>
            <a:endParaRPr b="1" i="0" sz="185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8" name="Google Shape;608;p11"/>
          <p:cNvSpPr/>
          <p:nvPr/>
        </p:nvSpPr>
        <p:spPr>
          <a:xfrm>
            <a:off x="13871448" y="6245352"/>
            <a:ext cx="512064" cy="512064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9" name="Google Shape;60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99463" y="637336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11"/>
          <p:cNvSpPr/>
          <p:nvPr/>
        </p:nvSpPr>
        <p:spPr>
          <a:xfrm>
            <a:off x="13871448" y="7192518"/>
            <a:ext cx="512064" cy="512064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1" name="Google Shape;61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99463" y="732053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11"/>
          <p:cNvSpPr/>
          <p:nvPr/>
        </p:nvSpPr>
        <p:spPr>
          <a:xfrm>
            <a:off x="0" y="0"/>
            <a:ext cx="15240000" cy="72736"/>
          </a:xfrm>
          <a:prstGeom prst="rect">
            <a:avLst/>
          </a:prstGeom>
          <a:solidFill>
            <a:srgbClr val="0FB7C3"/>
          </a:solidFill>
          <a:ln cap="flat" cmpd="sng" w="12700">
            <a:solidFill>
              <a:srgbClr val="0FB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8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2"/>
          <p:cNvSpPr/>
          <p:nvPr/>
        </p:nvSpPr>
        <p:spPr>
          <a:xfrm>
            <a:off x="473712" y="1656598"/>
            <a:ext cx="7086600" cy="4667366"/>
          </a:xfrm>
          <a:prstGeom prst="roundRect">
            <a:avLst>
              <a:gd fmla="val 3278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2"/>
          <p:cNvSpPr/>
          <p:nvPr/>
        </p:nvSpPr>
        <p:spPr>
          <a:xfrm>
            <a:off x="7733180" y="1627632"/>
            <a:ext cx="6995160" cy="2514919"/>
          </a:xfrm>
          <a:prstGeom prst="roundRect">
            <a:avLst>
              <a:gd fmla="val 3278" name="adj"/>
            </a:avLst>
          </a:prstGeom>
          <a:solidFill>
            <a:srgbClr val="E2F5F8"/>
          </a:solidFill>
          <a:ln cap="flat" cmpd="sng" w="15875">
            <a:solidFill>
              <a:srgbClr val="00A6B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2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solidFill>
            <a:srgbClr val="00A6B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2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2"/>
          <p:cNvSpPr/>
          <p:nvPr/>
        </p:nvSpPr>
        <p:spPr>
          <a:xfrm>
            <a:off x="13715999" y="-1828800"/>
            <a:ext cx="3474720" cy="347472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2"/>
          <p:cNvSpPr/>
          <p:nvPr/>
        </p:nvSpPr>
        <p:spPr>
          <a:xfrm>
            <a:off x="12984480" y="-2560320"/>
            <a:ext cx="4937760" cy="493776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2"/>
          <p:cNvSpPr/>
          <p:nvPr/>
        </p:nvSpPr>
        <p:spPr>
          <a:xfrm>
            <a:off x="16812513" y="-1151956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2"/>
          <p:cNvSpPr/>
          <p:nvPr/>
        </p:nvSpPr>
        <p:spPr>
          <a:xfrm>
            <a:off x="17820724" y="273268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2"/>
          <p:cNvSpPr/>
          <p:nvPr/>
        </p:nvSpPr>
        <p:spPr>
          <a:xfrm>
            <a:off x="13884754" y="71323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2"/>
          <p:cNvSpPr/>
          <p:nvPr/>
        </p:nvSpPr>
        <p:spPr>
          <a:xfrm>
            <a:off x="13366963" y="-1571539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2"/>
          <p:cNvSpPr/>
          <p:nvPr/>
        </p:nvSpPr>
        <p:spPr>
          <a:xfrm>
            <a:off x="15564014" y="83511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2"/>
          <p:cNvSpPr/>
          <p:nvPr/>
        </p:nvSpPr>
        <p:spPr>
          <a:xfrm>
            <a:off x="502920" y="1235202"/>
            <a:ext cx="2870200" cy="287654"/>
          </a:xfrm>
          <a:prstGeom prst="roundRect">
            <a:avLst>
              <a:gd fmla="val 50000" name="adj"/>
            </a:avLst>
          </a:prstGeom>
          <a:solidFill>
            <a:srgbClr val="D3E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2"/>
          <p:cNvSpPr/>
          <p:nvPr/>
        </p:nvSpPr>
        <p:spPr>
          <a:xfrm>
            <a:off x="760066" y="5451311"/>
            <a:ext cx="6583680" cy="10972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2"/>
          <p:cNvSpPr/>
          <p:nvPr/>
        </p:nvSpPr>
        <p:spPr>
          <a:xfrm>
            <a:off x="760066" y="5796241"/>
            <a:ext cx="6583680" cy="10972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2"/>
          <p:cNvSpPr/>
          <p:nvPr/>
        </p:nvSpPr>
        <p:spPr>
          <a:xfrm>
            <a:off x="760066" y="6141171"/>
            <a:ext cx="6583680" cy="10972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2"/>
          <p:cNvSpPr/>
          <p:nvPr/>
        </p:nvSpPr>
        <p:spPr>
          <a:xfrm>
            <a:off x="609600" y="533400"/>
            <a:ext cx="66675" cy="542925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2"/>
          <p:cNvSpPr/>
          <p:nvPr/>
        </p:nvSpPr>
        <p:spPr>
          <a:xfrm>
            <a:off x="876300" y="495300"/>
            <a:ext cx="13716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측정 Data 기반 MVP에서 실제 제조 현장 AI Agent로.</a:t>
            </a:r>
            <a:endParaRPr b="1" i="0" sz="3075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5" name="Google Shape;635;p12"/>
          <p:cNvSpPr/>
          <p:nvPr/>
        </p:nvSpPr>
        <p:spPr>
          <a:xfrm>
            <a:off x="655321" y="1247140"/>
            <a:ext cx="1333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 수준과 앞으로의 발전 방향</a:t>
            </a:r>
            <a:endParaRPr b="1" i="0" sz="127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6" name="Google Shape;636;p12"/>
          <p:cNvSpPr/>
          <p:nvPr/>
        </p:nvSpPr>
        <p:spPr>
          <a:xfrm>
            <a:off x="609600" y="8010525"/>
            <a:ext cx="14020800" cy="9525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2"/>
          <p:cNvSpPr/>
          <p:nvPr/>
        </p:nvSpPr>
        <p:spPr>
          <a:xfrm>
            <a:off x="14097000" y="8086725"/>
            <a:ext cx="52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2"/>
          <p:cNvSpPr/>
          <p:nvPr/>
        </p:nvSpPr>
        <p:spPr>
          <a:xfrm>
            <a:off x="687558" y="1752600"/>
            <a:ext cx="6762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현재 수준 — MVP(최소 기능 제품)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t/>
            </a:r>
            <a:endParaRPr b="1" i="0" sz="172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9" name="Google Shape;639;p12"/>
          <p:cNvSpPr/>
          <p:nvPr/>
        </p:nvSpPr>
        <p:spPr>
          <a:xfrm>
            <a:off x="7926072" y="1752600"/>
            <a:ext cx="67151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앞으로의 발전 방향</a:t>
            </a:r>
            <a:endParaRPr b="1" i="0" sz="172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0" name="Google Shape;640;p12"/>
          <p:cNvSpPr/>
          <p:nvPr/>
        </p:nvSpPr>
        <p:spPr>
          <a:xfrm>
            <a:off x="749808" y="2235657"/>
            <a:ext cx="1813657" cy="1008379"/>
          </a:xfrm>
          <a:prstGeom prst="roundRect">
            <a:avLst>
              <a:gd fmla="val 10472" name="adj"/>
            </a:avLst>
          </a:prstGeom>
          <a:solidFill>
            <a:srgbClr val="F2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2"/>
          <p:cNvSpPr/>
          <p:nvPr/>
        </p:nvSpPr>
        <p:spPr>
          <a:xfrm>
            <a:off x="791091" y="2465358"/>
            <a:ext cx="17875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Paderborn에</a:t>
            </a:r>
            <a:endParaRPr b="1" i="0" sz="135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저장된 측정 Data</a:t>
            </a:r>
            <a:endParaRPr b="1" i="0" sz="135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2" name="Google Shape;642;p12"/>
          <p:cNvSpPr/>
          <p:nvPr/>
        </p:nvSpPr>
        <p:spPr>
          <a:xfrm>
            <a:off x="2630407" y="2725686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2"/>
          <p:cNvSpPr/>
          <p:nvPr/>
        </p:nvSpPr>
        <p:spPr>
          <a:xfrm>
            <a:off x="2898504" y="2235657"/>
            <a:ext cx="1924494" cy="1008379"/>
          </a:xfrm>
          <a:prstGeom prst="roundRect">
            <a:avLst>
              <a:gd fmla="val 10472" name="adj"/>
            </a:avLst>
          </a:prstGeom>
          <a:solidFill>
            <a:srgbClr val="F2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2"/>
          <p:cNvSpPr/>
          <p:nvPr/>
        </p:nvSpPr>
        <p:spPr>
          <a:xfrm>
            <a:off x="3041695" y="2465358"/>
            <a:ext cx="17875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Adapter</a:t>
            </a:r>
            <a:endParaRPr b="1" i="0" sz="135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(입력 Data 변환기)</a:t>
            </a:r>
            <a:endParaRPr b="1" i="0" sz="135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i="0" sz="135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5" name="Google Shape;645;p12"/>
          <p:cNvSpPr/>
          <p:nvPr/>
        </p:nvSpPr>
        <p:spPr>
          <a:xfrm>
            <a:off x="4887839" y="2725686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2"/>
          <p:cNvSpPr/>
          <p:nvPr/>
        </p:nvSpPr>
        <p:spPr>
          <a:xfrm>
            <a:off x="5129140" y="2235657"/>
            <a:ext cx="2204348" cy="1008379"/>
          </a:xfrm>
          <a:prstGeom prst="roundRect">
            <a:avLst>
              <a:gd fmla="val 10472" name="adj"/>
            </a:avLst>
          </a:prstGeom>
          <a:solidFill>
            <a:srgbClr val="F2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2"/>
          <p:cNvSpPr/>
          <p:nvPr/>
        </p:nvSpPr>
        <p:spPr>
          <a:xfrm>
            <a:off x="5149108" y="2465358"/>
            <a:ext cx="218693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→ RAG → AI Agent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작업자의 확인</a:t>
            </a:r>
            <a:endParaRPr b="1" i="0" sz="135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8" name="Google Shape;648;p12"/>
          <p:cNvSpPr/>
          <p:nvPr/>
        </p:nvSpPr>
        <p:spPr>
          <a:xfrm>
            <a:off x="8016423" y="2194230"/>
            <a:ext cx="2282960" cy="690447"/>
          </a:xfrm>
          <a:prstGeom prst="roundRect">
            <a:avLst>
              <a:gd fmla="val 10472" name="adj"/>
            </a:avLst>
          </a:prstGeom>
          <a:solidFill>
            <a:srgbClr val="FFFFFF"/>
          </a:solidFill>
          <a:ln cap="flat" cmpd="sng" w="12700">
            <a:solidFill>
              <a:srgbClr val="00A6B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2"/>
          <p:cNvSpPr/>
          <p:nvPr/>
        </p:nvSpPr>
        <p:spPr>
          <a:xfrm>
            <a:off x="8123799" y="2327934"/>
            <a:ext cx="2110741" cy="457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실시간 Sensor / Gateway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(Bearing 상태 수집 장치)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0" name="Google Shape;650;p12"/>
          <p:cNvSpPr/>
          <p:nvPr/>
        </p:nvSpPr>
        <p:spPr>
          <a:xfrm>
            <a:off x="10339387" y="252959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2"/>
          <p:cNvSpPr/>
          <p:nvPr/>
        </p:nvSpPr>
        <p:spPr>
          <a:xfrm>
            <a:off x="10578245" y="2194230"/>
            <a:ext cx="1744174" cy="690447"/>
          </a:xfrm>
          <a:prstGeom prst="roundRect">
            <a:avLst>
              <a:gd fmla="val 10472" name="adj"/>
            </a:avLst>
          </a:prstGeom>
          <a:solidFill>
            <a:srgbClr val="FFFFFF"/>
          </a:solidFill>
          <a:ln cap="flat" cmpd="sng" w="12700">
            <a:solidFill>
              <a:srgbClr val="00A6B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2"/>
          <p:cNvSpPr/>
          <p:nvPr/>
        </p:nvSpPr>
        <p:spPr>
          <a:xfrm>
            <a:off x="10565607" y="2312320"/>
            <a:ext cx="1781175" cy="472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입력 Adapter</a:t>
            </a:r>
            <a:b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(입력 Data 변환기)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3" name="Google Shape;653;p12"/>
          <p:cNvSpPr/>
          <p:nvPr/>
        </p:nvSpPr>
        <p:spPr>
          <a:xfrm>
            <a:off x="12360519" y="252959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2"/>
          <p:cNvSpPr/>
          <p:nvPr/>
        </p:nvSpPr>
        <p:spPr>
          <a:xfrm>
            <a:off x="12608170" y="2194231"/>
            <a:ext cx="1634388" cy="716880"/>
          </a:xfrm>
          <a:prstGeom prst="roundRect">
            <a:avLst>
              <a:gd fmla="val 10472" name="adj"/>
            </a:avLst>
          </a:prstGeom>
          <a:solidFill>
            <a:srgbClr val="FFFFFF"/>
          </a:solidFill>
          <a:ln cap="flat" cmpd="sng" w="12700">
            <a:solidFill>
              <a:srgbClr val="00A6B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2"/>
          <p:cNvSpPr/>
          <p:nvPr/>
        </p:nvSpPr>
        <p:spPr>
          <a:xfrm>
            <a:off x="12533294" y="2311755"/>
            <a:ext cx="1781175" cy="482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기존 ML /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 MES / CMMS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2"/>
          <p:cNvSpPr/>
          <p:nvPr/>
        </p:nvSpPr>
        <p:spPr>
          <a:xfrm>
            <a:off x="676246" y="4774961"/>
            <a:ext cx="6667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현재의 한계</a:t>
            </a:r>
            <a:endParaRPr b="1" i="0" sz="160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7" name="Google Shape;657;p12"/>
          <p:cNvSpPr/>
          <p:nvPr/>
        </p:nvSpPr>
        <p:spPr>
          <a:xfrm>
            <a:off x="676275" y="5142564"/>
            <a:ext cx="681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실시간 생산 설비 Sensor에 직접 연결 전</a:t>
            </a:r>
            <a:endParaRPr b="0" i="0" sz="1400" u="none" cap="none" strike="noStrike">
              <a:solidFill>
                <a:srgbClr val="132E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2"/>
          <p:cNvSpPr/>
          <p:nvPr/>
        </p:nvSpPr>
        <p:spPr>
          <a:xfrm>
            <a:off x="676275" y="5486938"/>
            <a:ext cx="681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학습에 사용하지 않은 새로운 Bearing에서의 성능은 추가 검증 필요</a:t>
            </a:r>
            <a:endParaRPr b="0" i="0" sz="1400" u="none" cap="none" strike="noStrike">
              <a:solidFill>
                <a:srgbClr val="132E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2"/>
          <p:cNvSpPr/>
          <p:nvPr/>
        </p:nvSpPr>
        <p:spPr>
          <a:xfrm>
            <a:off x="676275" y="5831312"/>
            <a:ext cx="681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단어의 특징으로 유사 자료를 찾는 방식은 문장의 의미를 이해하기에 한계가 있음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2"/>
          <p:cNvSpPr/>
          <p:nvPr/>
        </p:nvSpPr>
        <p:spPr>
          <a:xfrm>
            <a:off x="666017" y="5924053"/>
            <a:ext cx="681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2E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2"/>
          <p:cNvSpPr/>
          <p:nvPr/>
        </p:nvSpPr>
        <p:spPr>
          <a:xfrm>
            <a:off x="8021955" y="2950960"/>
            <a:ext cx="6715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E4A"/>
              </a:buClr>
              <a:buSzPts val="1200"/>
              <a:buFont typeface="Noto Sans Symbols"/>
              <a:buChar char="✔"/>
            </a:pPr>
            <a:r>
              <a:rPr b="0" i="0" lang="en-US" sz="12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단어가 비슷한 자료 +  의미가 비슷한 자료를 함께 검색 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E4A"/>
              </a:buClr>
              <a:buSzPts val="1200"/>
              <a:buFont typeface="Noto Sans Symbols"/>
              <a:buChar char="✔"/>
            </a:pPr>
            <a:r>
              <a:rPr b="0" i="0" lang="en-US" sz="12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근거가 부족하면 답변 보류</a:t>
            </a:r>
            <a:endParaRPr b="0" i="0" sz="1200" u="none" cap="none" strike="noStrike">
              <a:solidFill>
                <a:srgbClr val="132E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2"/>
          <p:cNvSpPr/>
          <p:nvPr/>
        </p:nvSpPr>
        <p:spPr>
          <a:xfrm>
            <a:off x="8021955" y="3341026"/>
            <a:ext cx="6715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E4A"/>
              </a:buClr>
              <a:buSzPts val="1200"/>
              <a:buFont typeface="Noto Sans Symbols"/>
              <a:buChar char="✔"/>
            </a:pPr>
            <a:r>
              <a:rPr b="0" i="0" lang="en-US" sz="12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새로운 Bearing과 다양한 운전 조건에서 별도 성능 검증</a:t>
            </a:r>
            <a:endParaRPr b="0" i="0" sz="1200" u="none" cap="none" strike="noStrike">
              <a:solidFill>
                <a:srgbClr val="132E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2"/>
          <p:cNvSpPr/>
          <p:nvPr/>
        </p:nvSpPr>
        <p:spPr>
          <a:xfrm>
            <a:off x="8021955" y="3578692"/>
            <a:ext cx="6715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E4A"/>
              </a:buClr>
              <a:buSzPts val="1200"/>
              <a:buFont typeface="Noto Sans Symbols"/>
              <a:buChar char="✔"/>
            </a:pPr>
            <a:r>
              <a:rPr b="0" i="0" lang="en-US" sz="12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설비별 장기 이력 (Memory) 고도화</a:t>
            </a:r>
            <a:endParaRPr b="0" i="0" sz="1200" u="none" cap="none" strike="noStrike">
              <a:solidFill>
                <a:srgbClr val="132E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2"/>
          <p:cNvSpPr/>
          <p:nvPr/>
        </p:nvSpPr>
        <p:spPr>
          <a:xfrm>
            <a:off x="8021955" y="3797309"/>
            <a:ext cx="6715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E4A"/>
              </a:buClr>
              <a:buSzPts val="1200"/>
              <a:buFont typeface="Noto Sans Symbols"/>
              <a:buChar char="✔"/>
            </a:pPr>
            <a:r>
              <a:rPr b="0" i="0" lang="en-US" sz="12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실시간 Sensor / Gateway + MES </a:t>
            </a:r>
            <a:r>
              <a:rPr b="0" i="0" lang="en-US" sz="1200" u="none" cap="none" strike="noStrike">
                <a:solidFill>
                  <a:srgbClr val="18364D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b="0" i="0" lang="en-US" sz="12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 CMMS 연동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2"/>
          <p:cNvSpPr/>
          <p:nvPr/>
        </p:nvSpPr>
        <p:spPr>
          <a:xfrm>
            <a:off x="502920" y="6512723"/>
            <a:ext cx="14264640" cy="1345402"/>
          </a:xfrm>
          <a:prstGeom prst="roundRect">
            <a:avLst>
              <a:gd fmla="val 9309" name="adj"/>
            </a:avLst>
          </a:prstGeom>
          <a:solidFill>
            <a:srgbClr val="132E4A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2"/>
          <p:cNvSpPr/>
          <p:nvPr/>
        </p:nvSpPr>
        <p:spPr>
          <a:xfrm>
            <a:off x="785812" y="6616509"/>
            <a:ext cx="1370171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AI가 작업자에게 설비의 이상과 그 근거를 알려주고, 다음에 무엇을 점검하고 조치해야 하는지 제안하여</a:t>
            </a:r>
            <a:endParaRPr b="1" i="0" sz="2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작업자의 판단을 도와줍니다.</a:t>
            </a:r>
            <a:endParaRPr b="1" i="0" sz="2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7" name="Google Shape;667;p12"/>
          <p:cNvSpPr/>
          <p:nvPr/>
        </p:nvSpPr>
        <p:spPr>
          <a:xfrm>
            <a:off x="1273419" y="7413879"/>
            <a:ext cx="1333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Smart Factory Agent Office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2"/>
          <p:cNvSpPr/>
          <p:nvPr/>
        </p:nvSpPr>
        <p:spPr>
          <a:xfrm>
            <a:off x="0" y="0"/>
            <a:ext cx="15240000" cy="72736"/>
          </a:xfrm>
          <a:prstGeom prst="rect">
            <a:avLst/>
          </a:prstGeom>
          <a:solidFill>
            <a:srgbClr val="0FB7C3"/>
          </a:solidFill>
          <a:ln cap="flat" cmpd="sng" w="12700">
            <a:solidFill>
              <a:srgbClr val="0FB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12"/>
          <p:cNvSpPr/>
          <p:nvPr/>
        </p:nvSpPr>
        <p:spPr>
          <a:xfrm>
            <a:off x="7316049" y="8075816"/>
            <a:ext cx="6400800" cy="10972"/>
          </a:xfrm>
          <a:prstGeom prst="rect">
            <a:avLst/>
          </a:prstGeom>
          <a:solidFill>
            <a:srgbClr val="B9DC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2"/>
          <p:cNvSpPr/>
          <p:nvPr/>
        </p:nvSpPr>
        <p:spPr>
          <a:xfrm>
            <a:off x="14471259" y="6125826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1" name="Google Shape;671;p12"/>
          <p:cNvSpPr/>
          <p:nvPr/>
        </p:nvSpPr>
        <p:spPr>
          <a:xfrm>
            <a:off x="7733180" y="4256095"/>
            <a:ext cx="7003899" cy="2067869"/>
          </a:xfrm>
          <a:prstGeom prst="roundRect">
            <a:avLst>
              <a:gd fmla="val 3367" name="adj"/>
            </a:avLst>
          </a:prstGeom>
          <a:solidFill>
            <a:srgbClr val="F2FCF4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2" name="Google Shape;672;p12"/>
          <p:cNvSpPr/>
          <p:nvPr/>
        </p:nvSpPr>
        <p:spPr>
          <a:xfrm>
            <a:off x="7926071" y="4385979"/>
            <a:ext cx="2988855" cy="358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9"/>
              <a:buFont typeface="Arial"/>
              <a:buNone/>
            </a:pPr>
            <a:r>
              <a:rPr b="1" i="0" lang="en-US" sz="173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현장 적용 · 사업화 모델</a:t>
            </a:r>
            <a:endParaRPr b="0" i="0" sz="1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3" name="Google Shape;673;p12"/>
          <p:cNvSpPr/>
          <p:nvPr/>
        </p:nvSpPr>
        <p:spPr>
          <a:xfrm>
            <a:off x="8016422" y="4791181"/>
            <a:ext cx="1889723" cy="9091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B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4" name="Google Shape;674;p12"/>
          <p:cNvSpPr/>
          <p:nvPr/>
        </p:nvSpPr>
        <p:spPr>
          <a:xfrm>
            <a:off x="8229600" y="4862373"/>
            <a:ext cx="1344168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맞춤 구축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5" name="Google Shape;675;p12"/>
          <p:cNvSpPr/>
          <p:nvPr/>
        </p:nvSpPr>
        <p:spPr>
          <a:xfrm>
            <a:off x="8148474" y="5154015"/>
            <a:ext cx="16134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Sensor/Gateway · </a:t>
            </a:r>
            <a:b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MES·CMMS 연계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6" name="Google Shape;676;p12"/>
          <p:cNvSpPr/>
          <p:nvPr/>
        </p:nvSpPr>
        <p:spPr>
          <a:xfrm>
            <a:off x="10141917" y="4791181"/>
            <a:ext cx="1889327" cy="9091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B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7" name="Google Shape;677;p12"/>
          <p:cNvSpPr/>
          <p:nvPr/>
        </p:nvSpPr>
        <p:spPr>
          <a:xfrm>
            <a:off x="10301864" y="4862373"/>
            <a:ext cx="1497109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운영·고도화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8" name="Google Shape;678;p12"/>
          <p:cNvSpPr/>
          <p:nvPr/>
        </p:nvSpPr>
        <p:spPr>
          <a:xfrm>
            <a:off x="10267468" y="5154015"/>
            <a:ext cx="16134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 운영 · </a:t>
            </a:r>
            <a:b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ML·RAG 지속 개선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9" name="Google Shape;679;p12"/>
          <p:cNvSpPr/>
          <p:nvPr/>
        </p:nvSpPr>
        <p:spPr>
          <a:xfrm>
            <a:off x="12263444" y="4791181"/>
            <a:ext cx="1979114" cy="9091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B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0" name="Google Shape;680;p12"/>
          <p:cNvSpPr/>
          <p:nvPr/>
        </p:nvSpPr>
        <p:spPr>
          <a:xfrm>
            <a:off x="12462021" y="4862373"/>
            <a:ext cx="150089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표준화·구독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1" name="Google Shape;681;p12"/>
          <p:cNvSpPr/>
          <p:nvPr/>
        </p:nvSpPr>
        <p:spPr>
          <a:xfrm>
            <a:off x="12296836" y="5154015"/>
            <a:ext cx="19026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표준 AI Agent Platform</a:t>
            </a:r>
            <a:b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 · 설비/사업장 단위 구독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2" name="Google Shape;682;p12"/>
          <p:cNvSpPr/>
          <p:nvPr/>
        </p:nvSpPr>
        <p:spPr>
          <a:xfrm>
            <a:off x="9941939" y="5096979"/>
            <a:ext cx="182880" cy="29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2"/>
          <p:cNvSpPr/>
          <p:nvPr/>
        </p:nvSpPr>
        <p:spPr>
          <a:xfrm>
            <a:off x="12066522" y="5096979"/>
            <a:ext cx="182880" cy="29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2"/>
          <p:cNvSpPr/>
          <p:nvPr/>
        </p:nvSpPr>
        <p:spPr>
          <a:xfrm>
            <a:off x="12038127" y="4396736"/>
            <a:ext cx="2542317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4AA79"/>
                </a:solidFill>
                <a:latin typeface="Malgun Gothic"/>
                <a:ea typeface="Malgun Gothic"/>
                <a:cs typeface="Malgun Gothic"/>
                <a:sym typeface="Malgun Gothic"/>
              </a:rPr>
              <a:t>Target  제조기업 설비보전·</a:t>
            </a:r>
            <a:r>
              <a:rPr b="1" i="0" lang="en-US" sz="1100" u="none" cap="none" strike="noStrike">
                <a:solidFill>
                  <a:srgbClr val="44AA79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생산기술팀</a:t>
            </a:r>
            <a:endParaRPr b="0" i="0" sz="1050" u="none" cap="none" strike="noStrike">
              <a:solidFill>
                <a:srgbClr val="44AA7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5" name="Google Shape;685;p12"/>
          <p:cNvSpPr/>
          <p:nvPr/>
        </p:nvSpPr>
        <p:spPr>
          <a:xfrm>
            <a:off x="8016422" y="5812742"/>
            <a:ext cx="6198049" cy="334428"/>
          </a:xfrm>
          <a:prstGeom prst="roundRect">
            <a:avLst>
              <a:gd fmla="val 16667" name="adj"/>
            </a:avLst>
          </a:prstGeom>
          <a:solidFill>
            <a:srgbClr val="E0F5E6"/>
          </a:solidFill>
          <a:ln cap="flat" cmpd="sng" w="12700">
            <a:solidFill>
              <a:srgbClr val="E0F5E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6" name="Google Shape;686;p12"/>
          <p:cNvSpPr/>
          <p:nvPr/>
        </p:nvSpPr>
        <p:spPr>
          <a:xfrm>
            <a:off x="8183465" y="5817314"/>
            <a:ext cx="5915708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67D2"/>
                </a:solidFill>
                <a:latin typeface="Malgun Gothic"/>
                <a:ea typeface="Malgun Gothic"/>
                <a:cs typeface="Malgun Gothic"/>
                <a:sym typeface="Malgun Gothic"/>
              </a:rPr>
              <a:t>맞춤 구축·운영 → Adapter·Agent 표준화 → 설비·사업장 단위 구독형 서비스 확장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7" name="Google Shape;687;p12"/>
          <p:cNvSpPr/>
          <p:nvPr/>
        </p:nvSpPr>
        <p:spPr>
          <a:xfrm>
            <a:off x="791090" y="3380150"/>
            <a:ext cx="6524959" cy="1278196"/>
          </a:xfrm>
          <a:prstGeom prst="roundRect">
            <a:avLst>
              <a:gd fmla="val 9000" name="adj"/>
            </a:avLst>
          </a:prstGeom>
          <a:solidFill>
            <a:srgbClr val="E9F7FA"/>
          </a:solidFill>
          <a:ln cap="flat" cmpd="sng" w="12700">
            <a:solidFill>
              <a:srgbClr val="00A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2"/>
          <p:cNvSpPr/>
          <p:nvPr/>
        </p:nvSpPr>
        <p:spPr>
          <a:xfrm>
            <a:off x="791090" y="3517489"/>
            <a:ext cx="54375" cy="966982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12"/>
          <p:cNvSpPr/>
          <p:nvPr/>
        </p:nvSpPr>
        <p:spPr>
          <a:xfrm>
            <a:off x="1352961" y="3554340"/>
            <a:ext cx="5854338" cy="216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다른 제조설비로 적용 가능성 확인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2"/>
          <p:cNvSpPr/>
          <p:nvPr/>
        </p:nvSpPr>
        <p:spPr>
          <a:xfrm>
            <a:off x="1352961" y="3803824"/>
            <a:ext cx="5854338" cy="216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KAMP CNC 제조 Data 1,085건</a:t>
            </a:r>
            <a:r>
              <a:rPr b="1" i="0" lang="en-US" sz="1200" u="none" cap="none" strike="noStrike">
                <a:solidFill>
                  <a:srgbClr val="00A6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</a:t>
            </a:r>
            <a:r>
              <a:rPr b="0" i="0" lang="en-US" sz="12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별도 입력 기능</a:t>
            </a:r>
            <a:r>
              <a:rPr b="1" i="0" lang="en-US" sz="1200" u="none" cap="none" strike="noStrike">
                <a:solidFill>
                  <a:srgbClr val="00A6BF"/>
                </a:solidFill>
                <a:latin typeface="Malgun Gothic"/>
                <a:ea typeface="Malgun Gothic"/>
                <a:cs typeface="Malgun Gothic"/>
                <a:sym typeface="Malgun Gothic"/>
              </a:rPr>
              <a:t> → </a:t>
            </a:r>
            <a:r>
              <a:rPr b="0" i="0" lang="en-US" sz="12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기술문서 검색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2"/>
          <p:cNvSpPr/>
          <p:nvPr/>
        </p:nvSpPr>
        <p:spPr>
          <a:xfrm>
            <a:off x="1352961" y="4053306"/>
            <a:ext cx="5854338" cy="216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입력·기술문서 검색 Test 29/29 통과, 기존 운영 Code 변경 없음.</a:t>
            </a:r>
            <a:endParaRPr b="1" i="0" sz="120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2" name="Google Shape;692;p12"/>
          <p:cNvSpPr/>
          <p:nvPr/>
        </p:nvSpPr>
        <p:spPr>
          <a:xfrm>
            <a:off x="1352961" y="4302788"/>
            <a:ext cx="5854338" cy="216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87521"/>
                </a:solidFill>
                <a:latin typeface="Malgun Gothic"/>
                <a:ea typeface="Malgun Gothic"/>
                <a:cs typeface="Malgun Gothic"/>
                <a:sym typeface="Malgun Gothic"/>
              </a:rPr>
              <a:t>CNC 이상 판별 ML 성능은 아직 검증하지 않음.</a:t>
            </a:r>
            <a:endParaRPr b="1" i="0" sz="1200" u="none" cap="none" strike="noStrike">
              <a:solidFill>
                <a:srgbClr val="C875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3" name="Google Shape;693;p12"/>
          <p:cNvSpPr/>
          <p:nvPr/>
        </p:nvSpPr>
        <p:spPr>
          <a:xfrm>
            <a:off x="967413" y="3514515"/>
            <a:ext cx="274320" cy="274320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4" name="Google Shape;69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849" y="3573951"/>
            <a:ext cx="155448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8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3"/>
          <p:cNvSpPr/>
          <p:nvPr/>
        </p:nvSpPr>
        <p:spPr>
          <a:xfrm>
            <a:off x="473712" y="1656598"/>
            <a:ext cx="7086600" cy="4667366"/>
          </a:xfrm>
          <a:prstGeom prst="roundRect">
            <a:avLst>
              <a:gd fmla="val 3278" name="adj"/>
            </a:avLst>
          </a:prstGeom>
          <a:solidFill>
            <a:srgbClr val="FFFFFF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3"/>
          <p:cNvSpPr/>
          <p:nvPr/>
        </p:nvSpPr>
        <p:spPr>
          <a:xfrm>
            <a:off x="7733180" y="1627632"/>
            <a:ext cx="6995160" cy="2514919"/>
          </a:xfrm>
          <a:prstGeom prst="roundRect">
            <a:avLst>
              <a:gd fmla="val 3278" name="adj"/>
            </a:avLst>
          </a:prstGeom>
          <a:solidFill>
            <a:srgbClr val="E2F5F8"/>
          </a:solidFill>
          <a:ln cap="flat" cmpd="sng" w="15875">
            <a:solidFill>
              <a:srgbClr val="00A6BF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3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solidFill>
            <a:srgbClr val="00A6B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3"/>
          <p:cNvSpPr/>
          <p:nvPr/>
        </p:nvSpPr>
        <p:spPr>
          <a:xfrm>
            <a:off x="14447519" y="-109728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3"/>
          <p:cNvSpPr/>
          <p:nvPr/>
        </p:nvSpPr>
        <p:spPr>
          <a:xfrm>
            <a:off x="13715999" y="-1828800"/>
            <a:ext cx="3474720" cy="347472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3"/>
          <p:cNvSpPr/>
          <p:nvPr/>
        </p:nvSpPr>
        <p:spPr>
          <a:xfrm>
            <a:off x="12984480" y="-2560320"/>
            <a:ext cx="4937760" cy="4937760"/>
          </a:xfrm>
          <a:prstGeom prst="ellipse">
            <a:avLst/>
          </a:prstGeom>
          <a:noFill/>
          <a:ln cap="flat" cmpd="sng" w="12700">
            <a:solidFill>
              <a:srgbClr val="00A6BF">
                <a:alpha val="2588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3"/>
          <p:cNvSpPr/>
          <p:nvPr/>
        </p:nvSpPr>
        <p:spPr>
          <a:xfrm>
            <a:off x="16812513" y="-1151956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3"/>
          <p:cNvSpPr/>
          <p:nvPr/>
        </p:nvSpPr>
        <p:spPr>
          <a:xfrm>
            <a:off x="17820724" y="273268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3"/>
          <p:cNvSpPr/>
          <p:nvPr/>
        </p:nvSpPr>
        <p:spPr>
          <a:xfrm>
            <a:off x="13884754" y="71323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3"/>
          <p:cNvSpPr/>
          <p:nvPr/>
        </p:nvSpPr>
        <p:spPr>
          <a:xfrm>
            <a:off x="13366963" y="-1571539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3"/>
          <p:cNvSpPr/>
          <p:nvPr/>
        </p:nvSpPr>
        <p:spPr>
          <a:xfrm>
            <a:off x="15564014" y="835111"/>
            <a:ext cx="128016" cy="128016"/>
          </a:xfrm>
          <a:prstGeom prst="ellipse">
            <a:avLst/>
          </a:prstGeom>
          <a:solidFill>
            <a:srgbClr val="00A6BF">
              <a:alpha val="7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3"/>
          <p:cNvSpPr/>
          <p:nvPr/>
        </p:nvSpPr>
        <p:spPr>
          <a:xfrm>
            <a:off x="502920" y="1235202"/>
            <a:ext cx="2870200" cy="287654"/>
          </a:xfrm>
          <a:prstGeom prst="roundRect">
            <a:avLst>
              <a:gd fmla="val 50000" name="adj"/>
            </a:avLst>
          </a:prstGeom>
          <a:solidFill>
            <a:srgbClr val="D3E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3"/>
          <p:cNvSpPr/>
          <p:nvPr/>
        </p:nvSpPr>
        <p:spPr>
          <a:xfrm>
            <a:off x="760066" y="5451311"/>
            <a:ext cx="6583680" cy="10972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3"/>
          <p:cNvSpPr/>
          <p:nvPr/>
        </p:nvSpPr>
        <p:spPr>
          <a:xfrm>
            <a:off x="760066" y="5796241"/>
            <a:ext cx="6583680" cy="10972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3"/>
          <p:cNvSpPr/>
          <p:nvPr/>
        </p:nvSpPr>
        <p:spPr>
          <a:xfrm>
            <a:off x="760066" y="6141171"/>
            <a:ext cx="6583680" cy="10972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3"/>
          <p:cNvSpPr/>
          <p:nvPr/>
        </p:nvSpPr>
        <p:spPr>
          <a:xfrm>
            <a:off x="609600" y="533400"/>
            <a:ext cx="66675" cy="542925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3"/>
          <p:cNvSpPr/>
          <p:nvPr/>
        </p:nvSpPr>
        <p:spPr>
          <a:xfrm>
            <a:off x="876300" y="495300"/>
            <a:ext cx="13716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75"/>
              <a:buFont typeface="Arial"/>
              <a:buNone/>
            </a:pPr>
            <a:r>
              <a:rPr b="1" i="0" lang="en-US" sz="3075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피드백을 반영해 진단 화면을 개선했습니다.</a:t>
            </a:r>
            <a:endParaRPr b="1" i="0" sz="3075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7" name="Google Shape;717;p13"/>
          <p:cNvSpPr/>
          <p:nvPr/>
        </p:nvSpPr>
        <p:spPr>
          <a:xfrm>
            <a:off x="655321" y="1247140"/>
            <a:ext cx="1333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1" i="0" lang="en-US" sz="127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테스트 결과와 실제 반영 내용</a:t>
            </a:r>
            <a:endParaRPr b="1" i="0" sz="127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8" name="Google Shape;718;p13"/>
          <p:cNvSpPr/>
          <p:nvPr/>
        </p:nvSpPr>
        <p:spPr>
          <a:xfrm>
            <a:off x="609600" y="8010525"/>
            <a:ext cx="14020800" cy="9525"/>
          </a:xfrm>
          <a:prstGeom prst="rect">
            <a:avLst/>
          </a:prstGeom>
          <a:solidFill>
            <a:srgbClr val="D9E3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3"/>
          <p:cNvSpPr/>
          <p:nvPr/>
        </p:nvSpPr>
        <p:spPr>
          <a:xfrm>
            <a:off x="14097000" y="8086725"/>
            <a:ext cx="523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3"/>
          <p:cNvSpPr/>
          <p:nvPr/>
        </p:nvSpPr>
        <p:spPr>
          <a:xfrm>
            <a:off x="687558" y="1752600"/>
            <a:ext cx="6762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01 사용자 테스트 결과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3"/>
          <p:cNvSpPr/>
          <p:nvPr/>
        </p:nvSpPr>
        <p:spPr>
          <a:xfrm>
            <a:off x="7926072" y="1752600"/>
            <a:ext cx="67151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5"/>
              <a:buFont typeface="Arial"/>
              <a:buNone/>
            </a:pPr>
            <a:r>
              <a:rPr b="1" i="0" lang="en-US" sz="1725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02 피드백 기반 UI 개선</a:t>
            </a:r>
            <a:endParaRPr b="1" i="0" sz="1725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2" name="Google Shape;722;p13"/>
          <p:cNvSpPr/>
          <p:nvPr/>
        </p:nvSpPr>
        <p:spPr>
          <a:xfrm>
            <a:off x="749808" y="2235657"/>
            <a:ext cx="1813657" cy="1008379"/>
          </a:xfrm>
          <a:prstGeom prst="roundRect">
            <a:avLst>
              <a:gd fmla="val 10472" name="adj"/>
            </a:avLst>
          </a:prstGeom>
          <a:solidFill>
            <a:srgbClr val="F2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3"/>
          <p:cNvSpPr/>
          <p:nvPr/>
        </p:nvSpPr>
        <p:spPr>
          <a:xfrm>
            <a:off x="791091" y="2465358"/>
            <a:ext cx="17875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유효 설문 응답</a:t>
            </a:r>
            <a:endParaRPr b="1" i="0" sz="135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6건</a:t>
            </a:r>
            <a:endParaRPr b="1" i="0" sz="135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4" name="Google Shape;724;p13"/>
          <p:cNvSpPr/>
          <p:nvPr/>
        </p:nvSpPr>
        <p:spPr>
          <a:xfrm>
            <a:off x="2898504" y="2235657"/>
            <a:ext cx="1924494" cy="1008379"/>
          </a:xfrm>
          <a:prstGeom prst="roundRect">
            <a:avLst>
              <a:gd fmla="val 10472" name="adj"/>
            </a:avLst>
          </a:prstGeom>
          <a:solidFill>
            <a:srgbClr val="F2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3"/>
          <p:cNvSpPr/>
          <p:nvPr/>
        </p:nvSpPr>
        <p:spPr>
          <a:xfrm>
            <a:off x="3041695" y="2465358"/>
            <a:ext cx="17875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만족도</a:t>
            </a:r>
            <a:endParaRPr b="1" i="0" sz="135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3.33 / 5점</a:t>
            </a:r>
            <a:endParaRPr b="1" i="0" sz="135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6" name="Google Shape;726;p13"/>
          <p:cNvSpPr/>
          <p:nvPr/>
        </p:nvSpPr>
        <p:spPr>
          <a:xfrm>
            <a:off x="5129140" y="2235657"/>
            <a:ext cx="2204348" cy="1008379"/>
          </a:xfrm>
          <a:prstGeom prst="roundRect">
            <a:avLst>
              <a:gd fmla="val 10472" name="adj"/>
            </a:avLst>
          </a:prstGeom>
          <a:solidFill>
            <a:srgbClr val="F2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3"/>
          <p:cNvSpPr/>
          <p:nvPr/>
        </p:nvSpPr>
        <p:spPr>
          <a:xfrm>
            <a:off x="5149108" y="2465358"/>
            <a:ext cx="218693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재사용·추천 의향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65CE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 3건 / 6건</a:t>
            </a:r>
            <a:endParaRPr b="1" i="0" sz="1350" u="none" cap="none" strike="noStrike">
              <a:solidFill>
                <a:srgbClr val="1765C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8" name="Google Shape;728;p13"/>
          <p:cNvSpPr/>
          <p:nvPr/>
        </p:nvSpPr>
        <p:spPr>
          <a:xfrm>
            <a:off x="8016423" y="2194230"/>
            <a:ext cx="2282960" cy="690447"/>
          </a:xfrm>
          <a:prstGeom prst="roundRect">
            <a:avLst>
              <a:gd fmla="val 10472" name="adj"/>
            </a:avLst>
          </a:prstGeom>
          <a:solidFill>
            <a:srgbClr val="FFFFFF"/>
          </a:solidFill>
          <a:ln cap="flat" cmpd="sng" w="12700">
            <a:solidFill>
              <a:srgbClr val="00A6B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3"/>
          <p:cNvSpPr/>
          <p:nvPr/>
        </p:nvSpPr>
        <p:spPr>
          <a:xfrm>
            <a:off x="8123799" y="2327934"/>
            <a:ext cx="2110741" cy="4576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 안내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4단계·용어 설명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0" name="Google Shape;730;p13"/>
          <p:cNvSpPr/>
          <p:nvPr/>
        </p:nvSpPr>
        <p:spPr>
          <a:xfrm>
            <a:off x="10339387" y="252959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3"/>
          <p:cNvSpPr/>
          <p:nvPr/>
        </p:nvSpPr>
        <p:spPr>
          <a:xfrm>
            <a:off x="10578245" y="2194230"/>
            <a:ext cx="1744174" cy="690447"/>
          </a:xfrm>
          <a:prstGeom prst="roundRect">
            <a:avLst>
              <a:gd fmla="val 10472" name="adj"/>
            </a:avLst>
          </a:prstGeom>
          <a:solidFill>
            <a:srgbClr val="FFFFFF"/>
          </a:solidFill>
          <a:ln cap="flat" cmpd="sng" w="12700">
            <a:solidFill>
              <a:srgbClr val="00A6B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3"/>
          <p:cNvSpPr/>
          <p:nvPr/>
        </p:nvSpPr>
        <p:spPr>
          <a:xfrm>
            <a:off x="10565607" y="2312320"/>
            <a:ext cx="1781175" cy="472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PC 상단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ML 판정 확인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3" name="Google Shape;733;p13"/>
          <p:cNvSpPr/>
          <p:nvPr/>
        </p:nvSpPr>
        <p:spPr>
          <a:xfrm>
            <a:off x="12360519" y="2529595"/>
            <a:ext cx="209550" cy="114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6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3"/>
          <p:cNvSpPr/>
          <p:nvPr/>
        </p:nvSpPr>
        <p:spPr>
          <a:xfrm>
            <a:off x="12608170" y="2194231"/>
            <a:ext cx="1634388" cy="716880"/>
          </a:xfrm>
          <a:prstGeom prst="roundRect">
            <a:avLst>
              <a:gd fmla="val 10472" name="adj"/>
            </a:avLst>
          </a:prstGeom>
          <a:solidFill>
            <a:srgbClr val="FFFFFF"/>
          </a:solidFill>
          <a:ln cap="flat" cmpd="sng" w="12700">
            <a:solidFill>
              <a:srgbClr val="00A6B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3"/>
          <p:cNvSpPr/>
          <p:nvPr/>
        </p:nvSpPr>
        <p:spPr>
          <a:xfrm>
            <a:off x="12533294" y="2311755"/>
            <a:ext cx="1781175" cy="482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 요약·바로가기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3"/>
          <p:cNvSpPr/>
          <p:nvPr/>
        </p:nvSpPr>
        <p:spPr>
          <a:xfrm>
            <a:off x="676246" y="4774961"/>
            <a:ext cx="6667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개선 의견</a:t>
            </a:r>
            <a:endParaRPr b="1" i="0" sz="160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37" name="Google Shape;737;p13"/>
          <p:cNvSpPr/>
          <p:nvPr/>
        </p:nvSpPr>
        <p:spPr>
          <a:xfrm>
            <a:off x="676275" y="5142564"/>
            <a:ext cx="681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사용법·용어·설명 보강: 3건</a:t>
            </a:r>
            <a:endParaRPr b="0" i="0" sz="1400" u="none" cap="none" strike="noStrike">
              <a:solidFill>
                <a:srgbClr val="132E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3"/>
          <p:cNvSpPr/>
          <p:nvPr/>
        </p:nvSpPr>
        <p:spPr>
          <a:xfrm>
            <a:off x="676275" y="5486938"/>
            <a:ext cx="681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화면 구성·직관성 개선: 3건</a:t>
            </a:r>
            <a:endParaRPr b="0" i="0" sz="1400" u="none" cap="none" strike="noStrike">
              <a:solidFill>
                <a:srgbClr val="132E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3"/>
          <p:cNvSpPr/>
          <p:nvPr/>
        </p:nvSpPr>
        <p:spPr>
          <a:xfrm>
            <a:off x="676275" y="5831312"/>
            <a:ext cx="681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실제 현장 데이터 검증·연계: 2건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3"/>
          <p:cNvSpPr/>
          <p:nvPr/>
        </p:nvSpPr>
        <p:spPr>
          <a:xfrm>
            <a:off x="666017" y="5924053"/>
            <a:ext cx="6810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32E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3"/>
          <p:cNvSpPr/>
          <p:nvPr/>
        </p:nvSpPr>
        <p:spPr>
          <a:xfrm>
            <a:off x="8021955" y="3114766"/>
            <a:ext cx="671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E4A"/>
              </a:buClr>
              <a:buSzPts val="1200"/>
              <a:buFont typeface="Noto Sans Symbols"/>
              <a:buChar char="✔"/>
            </a:pPr>
            <a:r>
              <a:rPr b="0" i="0" lang="en-US" sz="12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FB-001  4단계 사용 안내와 기술 용어 설명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3"/>
          <p:cNvSpPr/>
          <p:nvPr/>
        </p:nvSpPr>
        <p:spPr>
          <a:xfrm>
            <a:off x="8021955" y="3341026"/>
            <a:ext cx="6715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E4A"/>
              </a:buClr>
              <a:buSzPts val="1200"/>
              <a:buFont typeface="Noto Sans Symbols"/>
              <a:buChar char="✔"/>
            </a:pPr>
            <a:r>
              <a:rPr b="0" i="0" lang="en-US" sz="12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FB-002  PC 상단 ML 판정·모바일 결과 요약</a:t>
            </a:r>
            <a:endParaRPr b="0" i="0" sz="1200" u="none" cap="none" strike="noStrike">
              <a:solidFill>
                <a:srgbClr val="132E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3"/>
          <p:cNvSpPr/>
          <p:nvPr/>
        </p:nvSpPr>
        <p:spPr>
          <a:xfrm>
            <a:off x="8021955" y="3578692"/>
            <a:ext cx="6715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E4A"/>
              </a:buClr>
              <a:buSzPts val="1200"/>
              <a:buFont typeface="Noto Sans Symbols"/>
              <a:buChar char="✔"/>
            </a:pPr>
            <a:r>
              <a:rPr b="0" i="0" lang="en-US" sz="12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FB-003  상세 기술정보 선택 열람</a:t>
            </a:r>
            <a:endParaRPr b="0" i="0" sz="1200" u="none" cap="none" strike="noStrike">
              <a:solidFill>
                <a:srgbClr val="132E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3"/>
          <p:cNvSpPr/>
          <p:nvPr/>
        </p:nvSpPr>
        <p:spPr>
          <a:xfrm>
            <a:off x="8021955" y="3797309"/>
            <a:ext cx="6715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2E4A"/>
              </a:buClr>
              <a:buSzPts val="1200"/>
              <a:buFont typeface="Noto Sans Symbols"/>
              <a:buChar char="✔"/>
            </a:pPr>
            <a:r>
              <a:rPr b="0" i="0" lang="en-US" sz="1200" u="none" cap="none" strike="noStrike">
                <a:solidFill>
                  <a:srgbClr val="132E4A"/>
                </a:solidFill>
                <a:latin typeface="Arial"/>
                <a:ea typeface="Arial"/>
                <a:cs typeface="Arial"/>
                <a:sym typeface="Arial"/>
              </a:rPr>
              <a:t>FB-004  모바일 정보 배치·탐색 보완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3"/>
          <p:cNvSpPr/>
          <p:nvPr/>
        </p:nvSpPr>
        <p:spPr>
          <a:xfrm>
            <a:off x="502920" y="6512723"/>
            <a:ext cx="14264640" cy="1345402"/>
          </a:xfrm>
          <a:prstGeom prst="roundRect">
            <a:avLst>
              <a:gd fmla="val 9309" name="adj"/>
            </a:avLst>
          </a:prstGeom>
          <a:solidFill>
            <a:srgbClr val="132E4A"/>
          </a:solidFill>
          <a:ln>
            <a:noFill/>
          </a:ln>
          <a:effectLst>
            <a:outerShdw blurRad="150000" rotWithShape="0" algn="t" dir="5400000" dist="38100">
              <a:srgbClr val="132E4A">
                <a:alpha val="1411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3"/>
          <p:cNvSpPr/>
          <p:nvPr/>
        </p:nvSpPr>
        <p:spPr>
          <a:xfrm>
            <a:off x="785812" y="6616509"/>
            <a:ext cx="13701713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의견에서 확인한 설명·결과 탐색 문제를 실제 화면 개선으로 연결했습니다.</a:t>
            </a:r>
            <a:endParaRPr b="1" i="0" sz="22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7" name="Google Shape;747;p13"/>
          <p:cNvSpPr/>
          <p:nvPr/>
        </p:nvSpPr>
        <p:spPr>
          <a:xfrm>
            <a:off x="1273419" y="7413879"/>
            <a:ext cx="1333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Smart Factory Agent Office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3"/>
          <p:cNvSpPr/>
          <p:nvPr/>
        </p:nvSpPr>
        <p:spPr>
          <a:xfrm>
            <a:off x="0" y="0"/>
            <a:ext cx="15240000" cy="72736"/>
          </a:xfrm>
          <a:prstGeom prst="rect">
            <a:avLst/>
          </a:prstGeom>
          <a:solidFill>
            <a:srgbClr val="0FB7C3"/>
          </a:solidFill>
          <a:ln cap="flat" cmpd="sng" w="12700">
            <a:solidFill>
              <a:srgbClr val="0FB7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13"/>
          <p:cNvSpPr/>
          <p:nvPr/>
        </p:nvSpPr>
        <p:spPr>
          <a:xfrm>
            <a:off x="7316049" y="8075816"/>
            <a:ext cx="6400800" cy="10972"/>
          </a:xfrm>
          <a:prstGeom prst="rect">
            <a:avLst/>
          </a:prstGeom>
          <a:solidFill>
            <a:srgbClr val="B9DC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3"/>
          <p:cNvSpPr/>
          <p:nvPr/>
        </p:nvSpPr>
        <p:spPr>
          <a:xfrm>
            <a:off x="14471259" y="6125826"/>
            <a:ext cx="9144" cy="9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1" name="Google Shape;751;p13"/>
          <p:cNvSpPr/>
          <p:nvPr/>
        </p:nvSpPr>
        <p:spPr>
          <a:xfrm>
            <a:off x="7733180" y="4256095"/>
            <a:ext cx="7003899" cy="2067869"/>
          </a:xfrm>
          <a:prstGeom prst="roundRect">
            <a:avLst>
              <a:gd fmla="val 3367" name="adj"/>
            </a:avLst>
          </a:prstGeom>
          <a:solidFill>
            <a:srgbClr val="F2FCF4"/>
          </a:solidFill>
          <a:ln cap="flat" cmpd="sng" w="127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2" name="Google Shape;752;p13"/>
          <p:cNvSpPr/>
          <p:nvPr/>
        </p:nvSpPr>
        <p:spPr>
          <a:xfrm>
            <a:off x="7926071" y="4385979"/>
            <a:ext cx="2988855" cy="3550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9"/>
              <a:buFont typeface="Arial"/>
              <a:buNone/>
            </a:pPr>
            <a:r>
              <a:rPr b="1" i="0" lang="en-US" sz="173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03 구현·화면 검증</a:t>
            </a:r>
            <a:endParaRPr b="0" i="0" sz="173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3" name="Google Shape;753;p13"/>
          <p:cNvSpPr/>
          <p:nvPr/>
        </p:nvSpPr>
        <p:spPr>
          <a:xfrm>
            <a:off x="8016422" y="4791181"/>
            <a:ext cx="1889723" cy="9091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B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4" name="Google Shape;754;p13"/>
          <p:cNvSpPr/>
          <p:nvPr/>
        </p:nvSpPr>
        <p:spPr>
          <a:xfrm>
            <a:off x="8229600" y="4862373"/>
            <a:ext cx="1344168" cy="304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구현 반영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5" name="Google Shape;755;p13"/>
          <p:cNvSpPr/>
          <p:nvPr/>
        </p:nvSpPr>
        <p:spPr>
          <a:xfrm>
            <a:off x="8148474" y="5154015"/>
            <a:ext cx="1613408" cy="45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FB-001~004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UI 변경 확인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6" name="Google Shape;756;p13"/>
          <p:cNvSpPr/>
          <p:nvPr/>
        </p:nvSpPr>
        <p:spPr>
          <a:xfrm>
            <a:off x="10141917" y="4791181"/>
            <a:ext cx="1889327" cy="9091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B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7" name="Google Shape;757;p13"/>
          <p:cNvSpPr/>
          <p:nvPr/>
        </p:nvSpPr>
        <p:spPr>
          <a:xfrm>
            <a:off x="10301864" y="4862373"/>
            <a:ext cx="1497109" cy="304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자동 검사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8" name="Google Shape;758;p13"/>
          <p:cNvSpPr/>
          <p:nvPr/>
        </p:nvSpPr>
        <p:spPr>
          <a:xfrm>
            <a:off x="10267468" y="5154015"/>
            <a:ext cx="1613408" cy="45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타입 검사 통과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테스트 33개 통과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59" name="Google Shape;759;p13"/>
          <p:cNvSpPr/>
          <p:nvPr/>
        </p:nvSpPr>
        <p:spPr>
          <a:xfrm>
            <a:off x="12263444" y="4791181"/>
            <a:ext cx="1979114" cy="90910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2EB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0" name="Google Shape;760;p13"/>
          <p:cNvSpPr/>
          <p:nvPr/>
        </p:nvSpPr>
        <p:spPr>
          <a:xfrm>
            <a:off x="12462021" y="4862373"/>
            <a:ext cx="1500890" cy="304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 화면 확인</a:t>
            </a:r>
            <a:endParaRPr b="0" i="0" sz="1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1" name="Google Shape;761;p13"/>
          <p:cNvSpPr/>
          <p:nvPr/>
        </p:nvSpPr>
        <p:spPr>
          <a:xfrm>
            <a:off x="12296836" y="5154015"/>
            <a:ext cx="1902613" cy="45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PC·모바일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36578"/>
                </a:solidFill>
                <a:latin typeface="Malgun Gothic"/>
                <a:ea typeface="Malgun Gothic"/>
                <a:cs typeface="Malgun Gothic"/>
                <a:sym typeface="Malgun Gothic"/>
              </a:rPr>
              <a:t>배치 확인</a:t>
            </a:r>
            <a:endParaRPr b="1" i="0" sz="1200" u="none" cap="none" strike="noStrike">
              <a:solidFill>
                <a:srgbClr val="53657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2" name="Google Shape;762;p13"/>
          <p:cNvSpPr/>
          <p:nvPr/>
        </p:nvSpPr>
        <p:spPr>
          <a:xfrm>
            <a:off x="9941939" y="5096979"/>
            <a:ext cx="182880" cy="29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13"/>
          <p:cNvSpPr/>
          <p:nvPr/>
        </p:nvSpPr>
        <p:spPr>
          <a:xfrm>
            <a:off x="12066522" y="5096979"/>
            <a:ext cx="182880" cy="29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9965A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13"/>
          <p:cNvSpPr/>
          <p:nvPr/>
        </p:nvSpPr>
        <p:spPr>
          <a:xfrm>
            <a:off x="12038127" y="4396736"/>
            <a:ext cx="2542317" cy="251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44AA79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Frontend 검증 결과</a:t>
            </a:r>
            <a:endParaRPr b="0" i="0" sz="1050" u="none" cap="none" strike="noStrike">
              <a:solidFill>
                <a:srgbClr val="44AA79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5" name="Google Shape;765;p13"/>
          <p:cNvSpPr/>
          <p:nvPr/>
        </p:nvSpPr>
        <p:spPr>
          <a:xfrm>
            <a:off x="8016422" y="5812742"/>
            <a:ext cx="6198049" cy="334428"/>
          </a:xfrm>
          <a:prstGeom prst="roundRect">
            <a:avLst>
              <a:gd fmla="val 16667" name="adj"/>
            </a:avLst>
          </a:prstGeom>
          <a:solidFill>
            <a:srgbClr val="E0F5E6"/>
          </a:solidFill>
          <a:ln cap="flat" cmpd="sng" w="12700">
            <a:solidFill>
              <a:srgbClr val="E0F5E6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6" name="Google Shape;766;p13"/>
          <p:cNvSpPr/>
          <p:nvPr/>
        </p:nvSpPr>
        <p:spPr>
          <a:xfrm>
            <a:off x="8183465" y="5817314"/>
            <a:ext cx="5915708" cy="274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67D2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프로덕션 빌드 통과 · 모바일 390px 가로 넘침 없음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7" name="Google Shape;767;p13"/>
          <p:cNvSpPr/>
          <p:nvPr/>
        </p:nvSpPr>
        <p:spPr>
          <a:xfrm>
            <a:off x="791090" y="3380150"/>
            <a:ext cx="6524959" cy="1278196"/>
          </a:xfrm>
          <a:prstGeom prst="roundRect">
            <a:avLst>
              <a:gd fmla="val 9000" name="adj"/>
            </a:avLst>
          </a:prstGeom>
          <a:solidFill>
            <a:srgbClr val="E9F7FA"/>
          </a:solidFill>
          <a:ln cap="flat" cmpd="sng" w="12700">
            <a:solidFill>
              <a:srgbClr val="00A6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13"/>
          <p:cNvSpPr/>
          <p:nvPr/>
        </p:nvSpPr>
        <p:spPr>
          <a:xfrm>
            <a:off x="791090" y="3517489"/>
            <a:ext cx="54375" cy="966982"/>
          </a:xfrm>
          <a:prstGeom prst="rect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3"/>
          <p:cNvSpPr/>
          <p:nvPr/>
        </p:nvSpPr>
        <p:spPr>
          <a:xfrm>
            <a:off x="1352961" y="3554340"/>
            <a:ext cx="585433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원본 설문 기반 과업 자가 보고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13"/>
          <p:cNvSpPr/>
          <p:nvPr/>
        </p:nvSpPr>
        <p:spPr>
          <a:xfrm>
            <a:off x="1352961" y="3803824"/>
            <a:ext cx="585433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완료 55건 / 84건 (65.5%)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13"/>
          <p:cNvSpPr/>
          <p:nvPr/>
        </p:nvSpPr>
        <p:spPr>
          <a:xfrm>
            <a:off x="1352961" y="4053306"/>
            <a:ext cx="585433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32E4A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부분완료 29건 / 84건 (34.5%)</a:t>
            </a:r>
            <a:endParaRPr b="1" i="0" sz="1200" u="none" cap="none" strike="noStrike">
              <a:solidFill>
                <a:srgbClr val="132E4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2" name="Google Shape;772;p13"/>
          <p:cNvSpPr/>
          <p:nvPr/>
        </p:nvSpPr>
        <p:spPr>
          <a:xfrm>
            <a:off x="1352961" y="4302788"/>
            <a:ext cx="5854338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87521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설비 이력 완료 3건 / 6건 (50.0%)</a:t>
            </a:r>
            <a:endParaRPr b="1" i="0" sz="1200" u="none" cap="none" strike="noStrike">
              <a:solidFill>
                <a:srgbClr val="C8752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3" name="Google Shape;773;p13"/>
          <p:cNvSpPr/>
          <p:nvPr/>
        </p:nvSpPr>
        <p:spPr>
          <a:xfrm>
            <a:off x="967413" y="3514515"/>
            <a:ext cx="274320" cy="274320"/>
          </a:xfrm>
          <a:prstGeom prst="ellipse">
            <a:avLst/>
          </a:prstGeom>
          <a:solidFill>
            <a:srgbClr val="00A6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4" name="Google Shape;7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849" y="3573951"/>
            <a:ext cx="155448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14"/>
          <p:cNvSpPr/>
          <p:nvPr/>
        </p:nvSpPr>
        <p:spPr>
          <a:xfrm>
            <a:off x="0" y="0"/>
            <a:ext cx="15240304" cy="8572500"/>
          </a:xfrm>
          <a:prstGeom prst="rect">
            <a:avLst/>
          </a:prstGeom>
          <a:solidFill>
            <a:srgbClr val="122B4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4"/>
          <p:cNvSpPr/>
          <p:nvPr/>
        </p:nvSpPr>
        <p:spPr>
          <a:xfrm>
            <a:off x="612648" y="521207"/>
            <a:ext cx="64008" cy="530352"/>
          </a:xfrm>
          <a:prstGeom prst="rect">
            <a:avLst/>
          </a:prstGeom>
          <a:solidFill>
            <a:srgbClr val="0DBE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14"/>
          <p:cNvSpPr/>
          <p:nvPr/>
        </p:nvSpPr>
        <p:spPr>
          <a:xfrm>
            <a:off x="877824" y="493776"/>
            <a:ext cx="91440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Smart Factory Agent Office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14"/>
          <p:cNvSpPr/>
          <p:nvPr/>
        </p:nvSpPr>
        <p:spPr>
          <a:xfrm>
            <a:off x="9646920" y="-960120"/>
            <a:ext cx="7315200" cy="7315200"/>
          </a:xfrm>
          <a:prstGeom prst="ellipse">
            <a:avLst/>
          </a:prstGeom>
          <a:noFill/>
          <a:ln cap="flat" cmpd="sng" w="15225">
            <a:solidFill>
              <a:srgbClr val="1D4E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14"/>
          <p:cNvSpPr/>
          <p:nvPr/>
        </p:nvSpPr>
        <p:spPr>
          <a:xfrm>
            <a:off x="10287000" y="-320040"/>
            <a:ext cx="6035040" cy="6035040"/>
          </a:xfrm>
          <a:prstGeom prst="ellipse">
            <a:avLst/>
          </a:prstGeom>
          <a:noFill/>
          <a:ln cap="flat" cmpd="sng" w="15225">
            <a:solidFill>
              <a:srgbClr val="1D4E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14"/>
          <p:cNvSpPr/>
          <p:nvPr/>
        </p:nvSpPr>
        <p:spPr>
          <a:xfrm>
            <a:off x="10972800" y="365760"/>
            <a:ext cx="4663440" cy="4663440"/>
          </a:xfrm>
          <a:prstGeom prst="ellipse">
            <a:avLst/>
          </a:prstGeom>
          <a:noFill/>
          <a:ln cap="flat" cmpd="sng" w="15225">
            <a:solidFill>
              <a:srgbClr val="1D4E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14"/>
          <p:cNvSpPr/>
          <p:nvPr/>
        </p:nvSpPr>
        <p:spPr>
          <a:xfrm>
            <a:off x="11649456" y="1042415"/>
            <a:ext cx="3291840" cy="3291840"/>
          </a:xfrm>
          <a:prstGeom prst="ellipse">
            <a:avLst/>
          </a:prstGeom>
          <a:noFill/>
          <a:ln cap="flat" cmpd="sng" w="15225">
            <a:solidFill>
              <a:srgbClr val="1D4E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14"/>
          <p:cNvSpPr/>
          <p:nvPr/>
        </p:nvSpPr>
        <p:spPr>
          <a:xfrm>
            <a:off x="11000232" y="1225296"/>
            <a:ext cx="59436" cy="59436"/>
          </a:xfrm>
          <a:prstGeom prst="ellipse">
            <a:avLst/>
          </a:prstGeom>
          <a:solidFill>
            <a:srgbClr val="0DBE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14"/>
          <p:cNvSpPr/>
          <p:nvPr/>
        </p:nvSpPr>
        <p:spPr>
          <a:xfrm>
            <a:off x="13990320" y="1143000"/>
            <a:ext cx="73152" cy="73152"/>
          </a:xfrm>
          <a:prstGeom prst="ellipse">
            <a:avLst/>
          </a:prstGeom>
          <a:solidFill>
            <a:srgbClr val="0DBE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4"/>
          <p:cNvSpPr/>
          <p:nvPr/>
        </p:nvSpPr>
        <p:spPr>
          <a:xfrm>
            <a:off x="14502384" y="3675887"/>
            <a:ext cx="68580" cy="68580"/>
          </a:xfrm>
          <a:prstGeom prst="ellipse">
            <a:avLst/>
          </a:prstGeom>
          <a:solidFill>
            <a:srgbClr val="0DBE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4"/>
          <p:cNvSpPr/>
          <p:nvPr/>
        </p:nvSpPr>
        <p:spPr>
          <a:xfrm>
            <a:off x="10451592" y="4828032"/>
            <a:ext cx="64008" cy="64008"/>
          </a:xfrm>
          <a:prstGeom prst="ellipse">
            <a:avLst/>
          </a:prstGeom>
          <a:solidFill>
            <a:srgbClr val="0DBE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4"/>
          <p:cNvSpPr/>
          <p:nvPr/>
        </p:nvSpPr>
        <p:spPr>
          <a:xfrm>
            <a:off x="905256" y="2377440"/>
            <a:ext cx="530352" cy="50292"/>
          </a:xfrm>
          <a:prstGeom prst="rect">
            <a:avLst/>
          </a:prstGeom>
          <a:solidFill>
            <a:srgbClr val="0DBE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4"/>
          <p:cNvSpPr/>
          <p:nvPr/>
        </p:nvSpPr>
        <p:spPr>
          <a:xfrm>
            <a:off x="877824" y="2633472"/>
            <a:ext cx="85953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1" i="0" lang="en-US" sz="4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14"/>
          <p:cNvSpPr/>
          <p:nvPr/>
        </p:nvSpPr>
        <p:spPr>
          <a:xfrm>
            <a:off x="914400" y="377647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7F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감사합니다.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4"/>
          <p:cNvSpPr/>
          <p:nvPr/>
        </p:nvSpPr>
        <p:spPr>
          <a:xfrm>
            <a:off x="914400" y="4663440"/>
            <a:ext cx="7059168" cy="16459"/>
          </a:xfrm>
          <a:prstGeom prst="rect">
            <a:avLst/>
          </a:prstGeom>
          <a:solidFill>
            <a:srgbClr val="2B5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4"/>
          <p:cNvSpPr/>
          <p:nvPr/>
        </p:nvSpPr>
        <p:spPr>
          <a:xfrm>
            <a:off x="914400" y="5056632"/>
            <a:ext cx="8046720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C6D7E5"/>
                </a:solidFill>
                <a:latin typeface="Arial"/>
                <a:ea typeface="Arial"/>
                <a:cs typeface="Arial"/>
                <a:sym typeface="Arial"/>
              </a:rPr>
              <a:t>이상 탐지부터 근거 기반 조치 권고까지,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14"/>
          <p:cNvSpPr/>
          <p:nvPr/>
        </p:nvSpPr>
        <p:spPr>
          <a:xfrm>
            <a:off x="914400" y="5513832"/>
            <a:ext cx="8549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Agent가 설비 진단의 다음 행동을 연결합니다.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14"/>
          <p:cNvSpPr/>
          <p:nvPr/>
        </p:nvSpPr>
        <p:spPr>
          <a:xfrm>
            <a:off x="10378440" y="1865376"/>
            <a:ext cx="384048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4"/>
          <p:cNvSpPr/>
          <p:nvPr/>
        </p:nvSpPr>
        <p:spPr>
          <a:xfrm>
            <a:off x="10652760" y="210312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3354D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PROGRAM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27080" y="2596896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4"/>
          <p:cNvSpPr/>
          <p:nvPr/>
        </p:nvSpPr>
        <p:spPr>
          <a:xfrm>
            <a:off x="10652760" y="550468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39576B"/>
                </a:solidFill>
                <a:latin typeface="Malgun Gothic"/>
                <a:ea typeface="Malgun Gothic"/>
                <a:cs typeface="Malgun Gothic"/>
                <a:sym typeface="Malgun Gothic"/>
              </a:rPr>
              <a:t>Scan to explore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14"/>
          <p:cNvSpPr/>
          <p:nvPr/>
        </p:nvSpPr>
        <p:spPr>
          <a:xfrm>
            <a:off x="10378440" y="64008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7FDDF0"/>
                </a:solidFill>
                <a:latin typeface="Malgun Gothic"/>
                <a:ea typeface="Malgun Gothic"/>
                <a:cs typeface="Malgun Gothic"/>
                <a:sym typeface="Malgun Gothic"/>
              </a:rPr>
              <a:t>factory.aipath.kr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14"/>
          <p:cNvSpPr/>
          <p:nvPr/>
        </p:nvSpPr>
        <p:spPr>
          <a:xfrm>
            <a:off x="609904" y="8010144"/>
            <a:ext cx="14017752" cy="11887"/>
          </a:xfrm>
          <a:prstGeom prst="rect">
            <a:avLst/>
          </a:prstGeom>
          <a:solidFill>
            <a:srgbClr val="3559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4"/>
          <p:cNvSpPr/>
          <p:nvPr/>
        </p:nvSpPr>
        <p:spPr>
          <a:xfrm>
            <a:off x="14081760" y="8088782"/>
            <a:ext cx="548640" cy="21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75" spcFirstLastPara="1" rIns="18275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FB3C8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